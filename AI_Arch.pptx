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8.xml" ContentType="application/vnd.openxmlformats-officedocument.theme+xml"/>
  <Override PartName="/ppt/notesMasters/notesMaster1.xml" ContentType="application/vnd.openxmlformats-officedocument.presentationml.notesMaster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6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8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dt" idx="22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ftr" idx="23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 type="sldNum" idx="24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A9DC5EE9-4C03-49C1-BB95-A46D887802C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hyperlink" Target="https://medium.com/@vi.ha.engr/bridging-natural-language-and-databases-best-practices-for-llm-generated-sql-fcba0449d4e5" TargetMode="External"/><Relationship Id="rId2" Type="http://schemas.openxmlformats.org/officeDocument/2006/relationships/slide" Target="../slides/slide2.xml"/><Relationship Id="rId3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hyperlink" Target="https://github.com/arunpshankar/LLM-Text-to-SQL-Architectures" TargetMode="External"/><Relationship Id="rId2" Type="http://schemas.openxmlformats.org/officeDocument/2006/relationships/slide" Target="../slides/slide3.xml"/><Relationship Id="rId3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hyperlink" Target="https://aws.amazon.com/blogs/machine-learning/build-your-gen-ai-based-text-to-sql-application-using-rag-powered-by-amazon-bedrock-claude-3-sonnet-and-amazon-titan-for-embedding/" TargetMode="External"/><Relationship Id="rId2" Type="http://schemas.openxmlformats.org/officeDocument/2006/relationships/slide" Target="../slides/slide5.xml"/><Relationship Id="rId3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hyperlink" Target="https://aws.amazon.com/blogs/machine-learning/dynamic-text-to-sql-for-enterprise-workloads-with-amazon-bedrock-agents/" TargetMode="External"/><Relationship Id="rId2" Type="http://schemas.openxmlformats.org/officeDocument/2006/relationships/slide" Target="../slides/slide7.xml"/><Relationship Id="rId3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hyperlink" Target="https://builder.aws.com/content/2f2d59922DQNz3iH1pCTeudpmhv/aws-bedrock-generative-ai-application-architecture" TargetMode="External"/><Relationship Id="rId2" Type="http://schemas.openxmlformats.org/officeDocument/2006/relationships/slide" Target="../slides/slide10.xml"/><Relationship Id="rId3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hyperlink" Target="https://medium.com/@vi.ha.engr/bridging-natural-language-and-databases-best-practices-for-llm-generated-sql-fcba0449d4e5" TargetMode="External"/><Relationship Id="rId2" Type="http://schemas.openxmlformats.org/officeDocument/2006/relationships/slide" Target="../slides/slide12.xml"/><Relationship Id="rId3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3920" cy="3770640"/>
          </a:xfrm>
          <a:prstGeom prst="rect">
            <a:avLst/>
          </a:prstGeom>
          <a:ln w="0">
            <a:noFill/>
          </a:ln>
        </p:spPr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6840" cy="4525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1"/>
              </a:rPr>
              <a:t>https://medium.com/@vi.ha.engr/bridging-natural-language-and-databases-best-practices-for-llm-generated-sql-fcba0449d4e5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sldImg"/>
          </p:nvPr>
        </p:nvSpPr>
        <p:spPr>
          <a:xfrm>
            <a:off x="144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6840" cy="4525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1"/>
              </a:rPr>
              <a:t>https://github.com/arunpshankar/LLM-Text-to-SQL-Architectures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sldImg"/>
          </p:nvPr>
        </p:nvSpPr>
        <p:spPr>
          <a:xfrm>
            <a:off x="1080" y="-360"/>
            <a:ext cx="720" cy="720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6840" cy="4525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1"/>
              </a:rPr>
              <a:t>https://aws.amazon.com/blogs/machine-learning/build-your-gen-ai-based-text-to-sql-application-using-rag-powered-by-amazon-bedrock-claude-3-sonnet-and-amazon-titan-for-embedding/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sldImg"/>
          </p:nvPr>
        </p:nvSpPr>
        <p:spPr>
          <a:xfrm>
            <a:off x="144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6840" cy="4525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1"/>
              </a:rPr>
              <a:t>https://aws.amazon.com/blogs/machine-learning/dynamic-text-to-sql-for-enterprise-workloads-with-amazon-bedrock-agents/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3920" cy="3770640"/>
          </a:xfrm>
          <a:prstGeom prst="rect">
            <a:avLst/>
          </a:prstGeom>
          <a:ln w="0">
            <a:noFill/>
          </a:ln>
        </p:spPr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6840" cy="4525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1"/>
              </a:rPr>
              <a:t>https://builder.aws.com/content/2f2d59922DQNz3iH1pCTeudpmhv/aws-bedrock-generative-ai-application-architecture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3920" cy="3770640"/>
          </a:xfrm>
          <a:prstGeom prst="rect">
            <a:avLst/>
          </a:prstGeom>
          <a:ln w="0">
            <a:noFill/>
          </a:ln>
        </p:spPr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6840" cy="4525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1"/>
              </a:rPr>
              <a:t>https://medium.com/@vi.ha.engr/bridging-natural-language-and-databases-best-practices-for-llm-generated-sql-fcba0449d4e5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056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392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9EDB798-F729-414A-84CA-99191690887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056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392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DD505D0-338F-47E2-9641-22A9D9EBC6B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056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ftr" idx="7"/>
          </p:nvPr>
        </p:nvSpPr>
        <p:spPr>
          <a:xfrm>
            <a:off x="3447360" y="5165280"/>
            <a:ext cx="319392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sldNum" idx="8"/>
          </p:nvPr>
        </p:nvSpPr>
        <p:spPr>
          <a:xfrm>
            <a:off x="722736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8492CA7-CFF8-42D3-AA70-9EFEC8C5F13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dt" idx="9"/>
          </p:nvPr>
        </p:nvSpPr>
        <p:spPr>
          <a:xfrm>
            <a:off x="50400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056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ftr" idx="10"/>
          </p:nvPr>
        </p:nvSpPr>
        <p:spPr>
          <a:xfrm>
            <a:off x="3447360" y="5165280"/>
            <a:ext cx="319392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sldNum" idx="11"/>
          </p:nvPr>
        </p:nvSpPr>
        <p:spPr>
          <a:xfrm>
            <a:off x="722736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DA58BED-3A25-4E61-848B-7085ADE4C18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dt" idx="12"/>
          </p:nvPr>
        </p:nvSpPr>
        <p:spPr>
          <a:xfrm>
            <a:off x="50400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056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ftr" idx="13"/>
          </p:nvPr>
        </p:nvSpPr>
        <p:spPr>
          <a:xfrm>
            <a:off x="3447360" y="5165280"/>
            <a:ext cx="319392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sldNum" idx="14"/>
          </p:nvPr>
        </p:nvSpPr>
        <p:spPr>
          <a:xfrm>
            <a:off x="722736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BA798A0-5038-447C-9F3C-11CBD2006A9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dt" idx="15"/>
          </p:nvPr>
        </p:nvSpPr>
        <p:spPr>
          <a:xfrm>
            <a:off x="50400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056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ftr" idx="16"/>
          </p:nvPr>
        </p:nvSpPr>
        <p:spPr>
          <a:xfrm>
            <a:off x="3447360" y="5165280"/>
            <a:ext cx="319392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sldNum" idx="17"/>
          </p:nvPr>
        </p:nvSpPr>
        <p:spPr>
          <a:xfrm>
            <a:off x="722736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74AB70-D094-4909-93AB-46FE30C5492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8"/>
          </p:nvPr>
        </p:nvSpPr>
        <p:spPr>
          <a:xfrm>
            <a:off x="50400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056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ftr" idx="19"/>
          </p:nvPr>
        </p:nvSpPr>
        <p:spPr>
          <a:xfrm>
            <a:off x="3447360" y="5165280"/>
            <a:ext cx="319392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sldNum" idx="20"/>
          </p:nvPr>
        </p:nvSpPr>
        <p:spPr>
          <a:xfrm>
            <a:off x="722736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24EFB07-071F-4CB2-A12B-5D580664B0E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dt" idx="21"/>
          </p:nvPr>
        </p:nvSpPr>
        <p:spPr>
          <a:xfrm>
            <a:off x="50400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6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subTitle"/>
          </p:nvPr>
        </p:nvSpPr>
        <p:spPr>
          <a:xfrm>
            <a:off x="504000" y="1325520"/>
            <a:ext cx="9070560" cy="328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Architecture Patterns</a:t>
            </a:r>
            <a:br>
              <a:rPr sz="4400"/>
            </a:b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Reference Guide</a:t>
            </a:r>
            <a:br>
              <a:rPr sz="4400"/>
            </a:b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5/27/26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subTitle"/>
          </p:nvPr>
        </p:nvSpPr>
        <p:spPr>
          <a:xfrm>
            <a:off x="504000" y="1325520"/>
            <a:ext cx="9070560" cy="328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Text-to-SQL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504000" y="362880"/>
            <a:ext cx="9070560" cy="671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Intent Detection / Entity Recognition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" name=""/>
          <p:cNvPicPr/>
          <p:nvPr/>
        </p:nvPicPr>
        <p:blipFill>
          <a:blip r:embed="rId1"/>
          <a:stretch/>
        </p:blipFill>
        <p:spPr>
          <a:xfrm>
            <a:off x="1935360" y="1257120"/>
            <a:ext cx="6222960" cy="4055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04000" y="362880"/>
            <a:ext cx="9070560" cy="671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LLM with RAG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" name=""/>
          <p:cNvPicPr/>
          <p:nvPr/>
        </p:nvPicPr>
        <p:blipFill>
          <a:blip r:embed="rId1"/>
          <a:stretch/>
        </p:blipFill>
        <p:spPr>
          <a:xfrm>
            <a:off x="1868760" y="1172160"/>
            <a:ext cx="6417720" cy="432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04000" y="362880"/>
            <a:ext cx="9070560" cy="671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LLM with RAG (AWS Bedrock)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" name=""/>
          <p:cNvPicPr/>
          <p:nvPr/>
        </p:nvPicPr>
        <p:blipFill>
          <a:blip r:embed="rId1"/>
          <a:stretch/>
        </p:blipFill>
        <p:spPr>
          <a:xfrm>
            <a:off x="561600" y="1791720"/>
            <a:ext cx="9007200" cy="3013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504000" y="362880"/>
            <a:ext cx="9070560" cy="671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Using SQL Agents (via LangChain)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" name=""/>
          <p:cNvPicPr/>
          <p:nvPr/>
        </p:nvPicPr>
        <p:blipFill>
          <a:blip r:embed="rId1"/>
          <a:stretch/>
        </p:blipFill>
        <p:spPr>
          <a:xfrm>
            <a:off x="1816920" y="1213920"/>
            <a:ext cx="6465240" cy="4207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504000" y="362880"/>
            <a:ext cx="9070560" cy="671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Agentic Text-to-SQL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" name=""/>
          <p:cNvPicPr/>
          <p:nvPr/>
        </p:nvPicPr>
        <p:blipFill>
          <a:blip r:embed="rId1"/>
          <a:stretch/>
        </p:blipFill>
        <p:spPr>
          <a:xfrm>
            <a:off x="974880" y="1502640"/>
            <a:ext cx="7923600" cy="3521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504000" y="1325520"/>
            <a:ext cx="9070560" cy="328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RAG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504000" y="225000"/>
            <a:ext cx="9071280" cy="94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RAG Pipeline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" name=""/>
          <p:cNvPicPr/>
          <p:nvPr/>
        </p:nvPicPr>
        <p:blipFill>
          <a:blip r:embed="rId1"/>
          <a:stretch/>
        </p:blipFill>
        <p:spPr>
          <a:xfrm>
            <a:off x="363960" y="1513080"/>
            <a:ext cx="9431280" cy="3715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subTitle"/>
          </p:nvPr>
        </p:nvSpPr>
        <p:spPr>
          <a:xfrm>
            <a:off x="504000" y="1325520"/>
            <a:ext cx="9070560" cy="328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Enterprise-level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"/>
          <p:cNvPicPr/>
          <p:nvPr/>
        </p:nvPicPr>
        <p:blipFill>
          <a:blip r:embed="rId1"/>
          <a:stretch/>
        </p:blipFill>
        <p:spPr>
          <a:xfrm>
            <a:off x="1770120" y="441000"/>
            <a:ext cx="6990840" cy="4889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subTitle"/>
          </p:nvPr>
        </p:nvSpPr>
        <p:spPr>
          <a:xfrm>
            <a:off x="504000" y="1325520"/>
            <a:ext cx="9070560" cy="328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Text-to-SQL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7425</TotalTime>
  <Application>LibreOffice/26.2.1.2$MacOSX_AARCH64 LibreOffice_project/8399f6259d8c87f40e7255cdb3c9b958f5e08948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2026-05-13T21:47:36Z</dcterms:created>
  <dc:creator/>
  <dc:description/>
  <dc:language>en-US</dc:language>
  <cp:lastModifiedBy/>
  <cp:lastPrinted>2026-05-14T15:51:58Z</cp:lastPrinted>
  <dcterms:modified xsi:type="dcterms:W3CDTF">2026-05-28T12:23:12Z</dcterms:modified>
  <cp:revision>147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