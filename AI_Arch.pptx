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9.xml" ContentType="application/vnd.openxmlformats-officedocument.them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C7E07AE-C9E4-486A-BDE5-17CD7EB4D80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hyperlink" Target="https://medium.com/@vi.ha.engr/bridging-natural-language-and-databases-best-practices-for-llm-generated-sql-fcba0449d4e5" TargetMode="External"/><Relationship Id="rId2" Type="http://schemas.openxmlformats.org/officeDocument/2006/relationships/slide" Target="../slides/slide2.xml"/><Relationship Id="rId3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hyperlink" Target="https://aws.amazon.com/blogs/security/hardening-the-rag-chatbot-architecture-powered-by-amazon-bedrock-blueprint-for-secure-design-and-anti-pattern-migration/" TargetMode="External"/><Relationship Id="rId2" Type="http://schemas.openxmlformats.org/officeDocument/2006/relationships/slide" Target="../slides/slide3.xml"/><Relationship Id="rId3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hyperlink" Target="https://docs.aws.amazon.com/solutions/similarity-search-based-retrieval-augmented-generation-rag-on-aws/" TargetMode="External"/><Relationship Id="rId2" Type="http://schemas.openxmlformats.org/officeDocument/2006/relationships/slide" Target="../slides/slide4.xml"/><Relationship Id="rId3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hyperlink" Target="https://aws-samples.github.io/aws-genai-llm-chatbot/about/architecture.html" TargetMode="External"/><Relationship Id="rId2" Type="http://schemas.openxmlformats.org/officeDocument/2006/relationships/slide" Target="../slides/slide5.xml"/><Relationship Id="rId3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hyperlink" Target="https://medium.com/@vi.ha.engr/bridging-natural-language-and-databases-best-practices-for-llm-generated-sql-fcba0449d4e5" TargetMode="External"/><Relationship Id="rId2" Type="http://schemas.openxmlformats.org/officeDocument/2006/relationships/slide" Target="../slides/slide6.xml"/><Relationship Id="rId3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hyperlink" Target="https://aws.amazon.com/blogs/machine-learning/build-your-gen-ai-based-text-to-sql-application-using-rag-powered-by-amazon-bedrock-claude-3-sonnet-and-amazon-titan-for-embedding/" TargetMode="External"/><Relationship Id="rId2" Type="http://schemas.openxmlformats.org/officeDocument/2006/relationships/slide" Target="../slides/slide7.xml"/><Relationship Id="rId3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hyperlink" Target="https://aws.amazon.com/blogs/machine-learning/dynamic-text-to-sql-for-enterprise-workloads-with-amazon-bedrock-agents/" TargetMode="External"/><Relationship Id="rId2" Type="http://schemas.openxmlformats.org/officeDocument/2006/relationships/slide" Target="../slides/slide8.xml"/><Relationship Id="rId3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hyperlink" Target="https://builder.aws.com/content/2f2d59922DQNz3iH1pCTeudpmhv/aws-bedrock-generative-ai-application-architecture" TargetMode="External"/><Relationship Id="rId2" Type="http://schemas.openxmlformats.org/officeDocument/2006/relationships/slide" Target="../slides/slide11.xml"/><Relationship Id="rId3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hyperlink" Target="https://docs.aws.amazon.com/prescriptive-guidance/latest/govern-architect-agentic-ai/enterprise-architecture.html" TargetMode="External"/><Relationship Id="rId2" Type="http://schemas.openxmlformats.org/officeDocument/2006/relationships/slide" Target="../slides/slide13.xml"/><Relationship Id="rId3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hyperlink" Target="https://d1.awsstatic.com/architecture-diagrams/ArchitectureDiagrams/aws_redis_realtime_fraud_detection_ra.pdf?did=wp_card&amp;trk=wp_card" TargetMode="External"/><Relationship Id="rId2" Type="http://schemas.openxmlformats.org/officeDocument/2006/relationships/slide" Target="../slides/slide15.xml"/><Relationship Id="rId3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hyperlink" Target="https://d1.awsstatic.com/architecture-diagrams/ArchitectureDiagrams/multi-model-inference-workflow-orchestration-ra.pdf?did=wp_card&amp;trk=wp_card" TargetMode="External"/><Relationship Id="rId2" Type="http://schemas.openxmlformats.org/officeDocument/2006/relationships/slide" Target="../slides/slide16.xml"/><Relationship Id="rId3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hyperlink" Target="https://aws.amazon.com/blogs/apn/taming-machine-learning-on-aws-with-mlops-a-reference-architecture/" TargetMode="External"/><Relationship Id="rId2" Type="http://schemas.openxmlformats.org/officeDocument/2006/relationships/slide" Target="../slides/slide18.xml"/><Relationship Id="rId3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hyperlink" Target="https://aws.amazon.com/blogs/apn/rapidly-build-a-generative-ai-landing-zone-on-aws/" TargetMode="External"/><Relationship Id="rId2" Type="http://schemas.openxmlformats.org/officeDocument/2006/relationships/slide" Target="../slides/slide20.xml"/><Relationship Id="rId3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200" cy="3769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https://medium.com/@vi.ha.engr/bridging-natural-language-and-databases-best-practices-for-llm-generated-sql-fcba0449d4e5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36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https://aws.amazon.com/blogs/security/hardening-the-rag-chatbot-architecture-powered-by-amazon-bedrock-blueprint-for-secure-design-and-anti-pattern-migration/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36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https://docs.aws.amazon.com/solutions/similarity-search-based-retrieval-augmented-generation-rag-on-aws/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3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https://aws-samples.github.io/aws-genai-llm-chatbot/about/architecture.html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200" cy="3769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https://medium.com/@vi.ha.engr/bridging-natural-language-and-databases-best-practices-for-llm-generated-sql-fcba0449d4e5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108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https://aws.amazon.com/blogs/machine-learning/build-your-gen-ai-based-text-to-sql-application-using-rag-powered-by-amazon-bedrock-claude-3-sonnet-and-amazon-titan-for-embedding/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https://aws.amazon.com/blogs/machine-learning/dynamic-text-to-sql-for-enterprise-workloads-with-amazon-bedrock-agents/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200" cy="3769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https://builder.aws.com/content/2f2d59922DQNz3iH1pCTeudpmhv/aws-bedrock-generative-ai-application-architecture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3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https://docs.aws.amazon.com/prescriptive-guidance/latest/govern-architect-agentic-ai/enterprise-architecture.html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200" cy="3769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36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https://d1.awsstatic.com/architecture-diagrams/ArchitectureDiagrams/aws_redis_realtime_fraud_detection_ra.pdf?did=wp_card&amp;trk=wp_card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3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https://d1.awsstatic.com/architecture-diagrams/ArchitectureDiagrams/multi-model-inference-workflow-orchestration-ra.pdf?did=wp_card&amp;trk=wp_card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200" cy="37699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36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https://aws.amazon.com/blogs/apn/taming-machine-learning-on-aws-with-mlops-a-reference-architecture/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200" cy="3769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36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https://aws.amazon.com/blogs/apn/rapidly-build-a-generative-ai-landing-zone-on-aws/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46B5B9-7FFD-46DD-AA05-DD5A5875D55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FDA057-C04A-4F6C-B6F0-68C76F6F20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0FD620-E33D-4AE4-889F-2CACB4CB115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B6A302A-494A-4A90-866C-56C4C53771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5AFA1F-7FA8-4967-86ED-534795872CF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38A5C1-5D79-4D6D-B760-1665D90F5BC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8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2C1BDC6-1D46-478C-A435-16322D8EDA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22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3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4C0608-B36D-4785-A5A9-1B03DDF09A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4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69840" cy="32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Architecture Patterns</a:t>
            </a:r>
            <a:br>
              <a:rPr sz="4400"/>
            </a:b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Guide</a:t>
            </a:r>
            <a:br>
              <a:rPr sz="4400"/>
            </a:b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5/27/26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69840" cy="32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63240"/>
            <a:ext cx="9069840" cy="6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Baseline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"/>
          <p:cNvPicPr/>
          <p:nvPr/>
        </p:nvPicPr>
        <p:blipFill>
          <a:blip r:embed="rId1"/>
          <a:stretch/>
        </p:blipFill>
        <p:spPr>
          <a:xfrm>
            <a:off x="1644840" y="1247400"/>
            <a:ext cx="6785280" cy="418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63240"/>
            <a:ext cx="9069840" cy="6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20880" y="9360"/>
            <a:ext cx="10080000" cy="56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63240"/>
            <a:ext cx="9069840" cy="6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/>
          <p:cNvPicPr/>
          <p:nvPr/>
        </p:nvPicPr>
        <p:blipFill>
          <a:blip r:embed="rId1"/>
          <a:stretch/>
        </p:blipFill>
        <p:spPr>
          <a:xfrm>
            <a:off x="61920" y="101160"/>
            <a:ext cx="9998280" cy="548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69840" cy="32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Text-to-SQL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62160"/>
            <a:ext cx="9069840" cy="67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with RAG (AWS Bedrock)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/>
          <p:cNvPicPr/>
          <p:nvPr/>
        </p:nvPicPr>
        <p:blipFill>
          <a:blip r:embed="rId1"/>
          <a:stretch/>
        </p:blipFill>
        <p:spPr>
          <a:xfrm>
            <a:off x="561600" y="1791720"/>
            <a:ext cx="9006480" cy="301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62160"/>
            <a:ext cx="9069840" cy="67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Agentic Text-to-SQL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974880" y="1502640"/>
            <a:ext cx="7922880" cy="352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69840" cy="32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 Pipeline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363960" y="1513080"/>
            <a:ext cx="9430560" cy="371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69840" cy="32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Enterprise-level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/>
          <p:cNvPicPr/>
          <p:nvPr/>
        </p:nvPicPr>
        <p:blipFill>
          <a:blip r:embed="rId1"/>
          <a:stretch/>
        </p:blipFill>
        <p:spPr>
          <a:xfrm>
            <a:off x="1770120" y="441000"/>
            <a:ext cx="6990120" cy="488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63240"/>
            <a:ext cx="9069840" cy="6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/>
          <p:cNvPicPr/>
          <p:nvPr/>
        </p:nvPicPr>
        <p:blipFill>
          <a:blip r:embed="rId1"/>
          <a:stretch/>
        </p:blipFill>
        <p:spPr>
          <a:xfrm>
            <a:off x="1371600" y="9000"/>
            <a:ext cx="737856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69840" cy="32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Traditional ML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0" y="34560"/>
            <a:ext cx="10080360" cy="55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0" y="56520"/>
            <a:ext cx="997164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69840" cy="32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MLOps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363240"/>
            <a:ext cx="9069840" cy="6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452880" y="9000"/>
            <a:ext cx="9216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ubTitle"/>
          </p:nvPr>
        </p:nvSpPr>
        <p:spPr>
          <a:xfrm>
            <a:off x="504000" y="1324800"/>
            <a:ext cx="9069840" cy="32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Landing Zone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2225880" y="9000"/>
            <a:ext cx="567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7522</TotalTime>
  <Application>LibreOffice/26.2.1.2$MacOSX_AARCH64 LibreOffice_project/8399f6259d8c87f40e7255cdb3c9b958f5e08948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2026-05-13T21:47:36Z</dcterms:created>
  <dc:creator/>
  <dc:description/>
  <dc:language>en-US</dc:language>
  <cp:lastModifiedBy/>
  <cp:lastPrinted>2026-05-14T15:51:58Z</cp:lastPrinted>
  <dcterms:modified xsi:type="dcterms:W3CDTF">2026-06-02T18:05:28Z</dcterms:modified>
  <cp:revision>160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