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7.xml" ContentType="application/vnd.openxmlformats-officedocument.theme+xml"/>
  <Override PartName="/ppt/notesMasters/notesMaster1.xml" ContentType="application/vnd.openxmlformats-officedocument.presentationml.notesMaster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6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7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2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ftr" idx="2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 type="sldNum" idx="2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F9B55A7-A30A-4A7C-9D59-53BDF1EB142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hyperlink" Target="https://medium.com/@vi.ha.engr/bridging-natural-language-and-databases-best-practices-for-llm-generated-sql-fcba0449d4e5" TargetMode="External"/><Relationship Id="rId2" Type="http://schemas.openxmlformats.org/officeDocument/2006/relationships/slide" Target="../slides/slide2.xml"/><Relationship Id="rId3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hyperlink" Target="https://github.com/arunpshankar/LLM-Text-to-SQL-Architectures" TargetMode="External"/><Relationship Id="rId2" Type="http://schemas.openxmlformats.org/officeDocument/2006/relationships/slide" Target="../slides/slide3.xml"/><Relationship Id="rId3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hyperlink" Target="https://aws.amazon.com/blogs/machine-learning/build-your-gen-ai-based-text-to-sql-application-using-rag-powered-by-amazon-bedrock-claude-3-sonnet-and-amazon-titan-for-embedding/" TargetMode="External"/><Relationship Id="rId2" Type="http://schemas.openxmlformats.org/officeDocument/2006/relationships/slide" Target="../slides/slide5.xml"/><Relationship Id="rId3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hyperlink" Target="https://aws.amazon.com/blogs/machine-learning/dynamic-text-to-sql-for-enterprise-workloads-with-amazon-bedrock-agents/" TargetMode="External"/><Relationship Id="rId2" Type="http://schemas.openxmlformats.org/officeDocument/2006/relationships/slide" Target="../slides/slide7.xml"/><Relationship Id="rId3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hyperlink" Target="https://builder.aws.com/content/2f2d59922DQNz3iH1pCTeudpmhv/aws-bedrock-generative-ai-application-architecture" TargetMode="External"/><Relationship Id="rId2" Type="http://schemas.openxmlformats.org/officeDocument/2006/relationships/slide" Target="../slides/slide10.xml"/><Relationship Id="rId3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hyperlink" Target="https://medium.com/@vi.ha.engr/bridging-natural-language-and-databases-best-practices-for-llm-generated-sql-fcba0449d4e5" TargetMode="External"/><Relationship Id="rId2" Type="http://schemas.openxmlformats.org/officeDocument/2006/relationships/slide" Target="../slides/slide12.xml"/><Relationship Id="rId3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280" cy="3771000"/>
          </a:xfrm>
          <a:prstGeom prst="rect">
            <a:avLst/>
          </a:prstGeom>
          <a:ln w="0">
            <a:noFill/>
          </a:ln>
        </p:spPr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200" cy="452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https://medium.com/@vi.ha.engr/bridging-natural-language-and-databases-best-practices-for-llm-generated-sql-fcba0449d4e5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1440" y="0"/>
            <a:ext cx="0" cy="360"/>
          </a:xfrm>
          <a:prstGeom prst="rect">
            <a:avLst/>
          </a:prstGeom>
          <a:ln w="0">
            <a:noFill/>
          </a:ln>
        </p:spPr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200" cy="452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https://github.com/arunpshankar/LLM-Text-to-SQL-Architectures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sldImg"/>
          </p:nvPr>
        </p:nvSpPr>
        <p:spPr>
          <a:xfrm>
            <a:off x="1440" y="0"/>
            <a:ext cx="0" cy="360"/>
          </a:xfrm>
          <a:prstGeom prst="rect">
            <a:avLst/>
          </a:prstGeom>
          <a:ln w="0">
            <a:noFill/>
          </a:ln>
        </p:spPr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200" cy="452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https://aws.amazon.com/blogs/machine-learning/build-your-gen-ai-based-text-to-sql-application-using-rag-powered-by-amazon-bedrock-claude-3-sonnet-and-amazon-titan-for-embedding/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sldImg"/>
          </p:nvPr>
        </p:nvSpPr>
        <p:spPr>
          <a:xfrm>
            <a:off x="1440" y="0"/>
            <a:ext cx="0" cy="360"/>
          </a:xfrm>
          <a:prstGeom prst="rect">
            <a:avLst/>
          </a:prstGeom>
          <a:ln w="0">
            <a:noFill/>
          </a:ln>
        </p:spPr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200" cy="452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https://aws.amazon.com/blogs/machine-learning/dynamic-text-to-sql-for-enterprise-workloads-with-amazon-bedrock-agents/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280" cy="3771000"/>
          </a:xfrm>
          <a:prstGeom prst="rect">
            <a:avLst/>
          </a:prstGeom>
          <a:ln w="0">
            <a:noFill/>
          </a:ln>
        </p:spPr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200" cy="452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https://builder.aws.com/content/2f2d59922DQNz3iH1pCTeudpmhv/aws-bedrock-generative-ai-application-architecture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280" cy="3771000"/>
          </a:xfrm>
          <a:prstGeom prst="rect">
            <a:avLst/>
          </a:prstGeom>
          <a:ln w="0">
            <a:noFill/>
          </a:ln>
        </p:spPr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200" cy="452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https://medium.com/@vi.ha.engr/bridging-natural-language-and-databases-best-practices-for-llm-generated-sql-fcba0449d4e5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9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83DF1E2-8919-43A2-B0E6-7C7055457AF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9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97D7B57-019E-4E25-B7A3-8AEB6DFA528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9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ftr" idx="7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sldNum" idx="8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B04D1C3-D0CB-439B-82F7-E69F2F22170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dt" idx="9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9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ftr" idx="10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sldNum" idx="11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DC227F2-E278-49C2-92FD-A960C63B990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2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9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3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4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B4F8AD4-3B4C-4651-967A-8113D4F3848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dt" idx="15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9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ftr" idx="19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20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6A70A99-1481-4BDD-A767-83B1E745799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dt" idx="21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9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ftr" idx="16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17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DC9601B-56E8-406A-98B5-7A84A9BB8FE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dt" idx="18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6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ubTitle"/>
          </p:nvPr>
        </p:nvSpPr>
        <p:spPr>
          <a:xfrm>
            <a:off x="504000" y="1325880"/>
            <a:ext cx="9070920" cy="328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Architecture Patterns</a:t>
            </a:r>
            <a:br>
              <a:rPr sz="4400"/>
            </a:b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 Guide</a:t>
            </a:r>
            <a:br>
              <a:rPr sz="4400"/>
            </a:b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5/27/26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subTitle"/>
          </p:nvPr>
        </p:nvSpPr>
        <p:spPr>
          <a:xfrm>
            <a:off x="504000" y="1325880"/>
            <a:ext cx="9070920" cy="328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Text-to-SQL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504000" y="363240"/>
            <a:ext cx="9070920" cy="67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Intent Detection / Entity Recognition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" name=""/>
          <p:cNvPicPr/>
          <p:nvPr/>
        </p:nvPicPr>
        <p:blipFill>
          <a:blip r:embed="rId1"/>
          <a:stretch/>
        </p:blipFill>
        <p:spPr>
          <a:xfrm>
            <a:off x="1935360" y="1257120"/>
            <a:ext cx="6223320" cy="4056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504000" y="363240"/>
            <a:ext cx="9070920" cy="67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 with RAG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" name=""/>
          <p:cNvPicPr/>
          <p:nvPr/>
        </p:nvPicPr>
        <p:blipFill>
          <a:blip r:embed="rId1"/>
          <a:stretch/>
        </p:blipFill>
        <p:spPr>
          <a:xfrm>
            <a:off x="1868760" y="1172160"/>
            <a:ext cx="6418080" cy="432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504000" y="363240"/>
            <a:ext cx="9070920" cy="67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 with RAG (AWS Bedrock)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" name=""/>
          <p:cNvPicPr/>
          <p:nvPr/>
        </p:nvPicPr>
        <p:blipFill>
          <a:blip r:embed="rId1"/>
          <a:stretch/>
        </p:blipFill>
        <p:spPr>
          <a:xfrm>
            <a:off x="561600" y="1791720"/>
            <a:ext cx="9007560" cy="3014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504000" y="363240"/>
            <a:ext cx="9070920" cy="67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Using SQL Agents (via LangChain)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" name=""/>
          <p:cNvPicPr/>
          <p:nvPr/>
        </p:nvPicPr>
        <p:blipFill>
          <a:blip r:embed="rId1"/>
          <a:stretch/>
        </p:blipFill>
        <p:spPr>
          <a:xfrm>
            <a:off x="1816920" y="1213920"/>
            <a:ext cx="6465600" cy="4208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504000" y="363240"/>
            <a:ext cx="9070920" cy="67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Agentic Text-to-SQL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" name=""/>
          <p:cNvPicPr/>
          <p:nvPr/>
        </p:nvPicPr>
        <p:blipFill>
          <a:blip r:embed="rId1"/>
          <a:stretch/>
        </p:blipFill>
        <p:spPr>
          <a:xfrm>
            <a:off x="974880" y="1502640"/>
            <a:ext cx="7923960" cy="3521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subTitle"/>
          </p:nvPr>
        </p:nvSpPr>
        <p:spPr>
          <a:xfrm>
            <a:off x="504000" y="1325880"/>
            <a:ext cx="9070920" cy="328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RAG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164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RAG Pipeline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" name=""/>
          <p:cNvPicPr/>
          <p:nvPr/>
        </p:nvPicPr>
        <p:blipFill>
          <a:blip r:embed="rId1"/>
          <a:stretch/>
        </p:blipFill>
        <p:spPr>
          <a:xfrm>
            <a:off x="363960" y="1513080"/>
            <a:ext cx="9431640" cy="3716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subTitle"/>
          </p:nvPr>
        </p:nvSpPr>
        <p:spPr>
          <a:xfrm>
            <a:off x="504000" y="1325880"/>
            <a:ext cx="9070920" cy="328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Enterprise-level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"/>
          <p:cNvPicPr/>
          <p:nvPr/>
        </p:nvPicPr>
        <p:blipFill>
          <a:blip r:embed="rId1"/>
          <a:stretch/>
        </p:blipFill>
        <p:spPr>
          <a:xfrm>
            <a:off x="1770120" y="441000"/>
            <a:ext cx="6991200" cy="4889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subTitle"/>
          </p:nvPr>
        </p:nvSpPr>
        <p:spPr>
          <a:xfrm>
            <a:off x="504000" y="1325880"/>
            <a:ext cx="9070920" cy="328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Text-to-SQL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7317</TotalTime>
  <Application>LibreOffice/26.2.1.2$MacOSX_AARCH64 LibreOffice_project/8399f6259d8c87f40e7255cdb3c9b958f5e08948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2026-05-13T21:47:36Z</dcterms:created>
  <dc:creator/>
  <dc:description/>
  <dc:language>en-US</dc:language>
  <cp:lastModifiedBy/>
  <cp:lastPrinted>2026-05-14T15:51:58Z</cp:lastPrinted>
  <dcterms:modified xsi:type="dcterms:W3CDTF">2026-05-27T18:19:37Z</dcterms:modified>
  <cp:revision>145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