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8.xml" ContentType="application/vnd.openxmlformats-officedocument.theme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50BAA3-CF61-4A59-9F9C-41A7C093485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hyperlink" Target="https://aws.amazon.com/blogs/security/hardening-the-rag-chatbot-architecture-powered-by-amazon-bedrock-blueprint-for-secure-design-and-anti-pattern-migration/" TargetMode="External"/><Relationship Id="rId2" Type="http://schemas.openxmlformats.org/officeDocument/2006/relationships/slide" Target="../slides/slide3.xml"/><Relationship Id="rId3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hyperlink" Target="https://docs.aws.amazon.com/solutions/similarity-search-based-retrieval-augmented-generation-rag-on-aws/" TargetMode="External"/><Relationship Id="rId2" Type="http://schemas.openxmlformats.org/officeDocument/2006/relationships/slide" Target="../slides/slide4.xml"/><Relationship Id="rId3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hyperlink" Target="https://aws-samples.github.io/aws-genai-llm-chatbot/about/architecture.html" TargetMode="External"/><Relationship Id="rId2" Type="http://schemas.openxmlformats.org/officeDocument/2006/relationships/slide" Target="../slides/slide5.xml"/><Relationship Id="rId3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6.xml"/><Relationship Id="rId3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build-your-gen-ai-based-text-to-sql-application-using-rag-powered-by-amazon-bedrock-claude-3-sonnet-and-amazon-titan-for-embedding/" TargetMode="External"/><Relationship Id="rId2" Type="http://schemas.openxmlformats.org/officeDocument/2006/relationships/slide" Target="../slides/slide7.xml"/><Relationship Id="rId3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dynamic-text-to-sql-for-enterprise-workloads-with-amazon-bedrock-agents/" TargetMode="External"/><Relationship Id="rId2" Type="http://schemas.openxmlformats.org/officeDocument/2006/relationships/slide" Target="../slides/slide8.xml"/><Relationship Id="rId3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hyperlink" Target="https://builder.aws.com/content/2f2d59922DQNz3iH1pCTeudpmhv/aws-bedrock-generative-ai-application-architecture" TargetMode="External"/><Relationship Id="rId2" Type="http://schemas.openxmlformats.org/officeDocument/2006/relationships/slide" Target="../slides/slide11.xml"/><Relationship Id="rId3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hyperlink" Target="https://docs.aws.amazon.com/prescriptive-guidance/latest/govern-architect-agentic-ai/enterprise-architecture.html" TargetMode="External"/><Relationship Id="rId2" Type="http://schemas.openxmlformats.org/officeDocument/2006/relationships/slide" Target="../slides/slide13.xml"/><Relationship Id="rId3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hyperlink" Target="https://d1.awsstatic.com/architecture-diagrams/ArchitectureDiagrams/aws_redis_realtime_fraud_detection_ra.pdf?did=wp_card&amp;trk=wp_card" TargetMode="External"/><Relationship Id="rId2" Type="http://schemas.openxmlformats.org/officeDocument/2006/relationships/slide" Target="../slides/slide15.xml"/><Relationship Id="rId3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hyperlink" Target="https://d1.awsstatic.com/architecture-diagrams/ArchitectureDiagrams/multi-model-inference-workflow-orchestration-ra.pdf?did=wp_card&amp;trk=wp_card" TargetMode="External"/><Relationship Id="rId2" Type="http://schemas.openxmlformats.org/officeDocument/2006/relationships/slide" Target="../slides/slide16.xml"/><Relationship Id="rId3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hyperlink" Target="https://aws.amazon.com/blogs/apn/taming-machine-learning-on-aws-with-mlops-a-reference-architecture/" TargetMode="External"/><Relationship Id="rId2" Type="http://schemas.openxmlformats.org/officeDocument/2006/relationships/slide" Target="../slides/slide18.xml"/><Relationship Id="rId3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hyperlink" Target="https://aws.amazon.com/blogs/apn/rapidly-build-a-generative-ai-landing-zone-on-aws/" TargetMode="External"/><Relationship Id="rId2" Type="http://schemas.openxmlformats.org/officeDocument/2006/relationships/slide" Target="../slides/slide20.xml"/><Relationship Id="rId3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https://aws.amazon.com/blogs/security/hardening-the-rag-chatbot-architecture-powered-by-amazon-bedrock-blueprint-for-secure-design-and-anti-pattern-migration/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https://docs.aws.amazon.com/solutions/similarity-search-based-retrieval-augmented-generation-rag-on-aws/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https://aws-samples.github.io/aws-genai-llm-chatbot/about/architecture.html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108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https://aws.amazon.com/blogs/machine-learning/build-your-gen-ai-based-text-to-sql-application-using-rag-powered-by-amazon-bedrock-claude-3-sonnet-and-amazon-titan-for-embedding/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https://aws.amazon.com/blogs/machine-learning/dynamic-text-to-sql-for-enterprise-workloads-with-amazon-bedrock-agents/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https://builder.aws.com/content/2f2d59922DQNz3iH1pCTeudpmhv/aws-bedrock-generative-ai-application-architecture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https://docs.aws.amazon.com/prescriptive-guidance/latest/govern-architect-agentic-ai/enterprise-architecture.html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https://d1.awsstatic.com/architecture-diagrams/ArchitectureDiagrams/aws_redis_realtime_fraud_detection_ra.pdf?did=wp_card&amp;trk=wp_card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https://d1.awsstatic.com/architecture-diagrams/ArchitectureDiagrams/multi-model-inference-workflow-orchestration-ra.pdf?did=wp_card&amp;trk=wp_card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https://aws.amazon.com/blogs/apn/taming-machine-learning-on-aws-with-mlops-a-reference-architecture/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360" cy="72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https://aws.amazon.com/blogs/apn/rapidly-build-a-generative-ai-landing-zone-on-aws/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2A4F235-1A84-431B-9AFE-DE57C265E42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6E9B68-EAD2-4BDB-A478-859FB91752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BDD4FE-81B5-4031-B0B1-629339FAF2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4EAA71-7668-4B56-A55B-E4D725E9E39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47E021-CA3B-47C7-8DD3-2303A5D4C26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4ADCD89-1097-41E3-869A-7A4F487834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ftr" idx="22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23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2B69A14-7BE1-4713-9C14-AE6C412BC0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4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F14964-BF22-4419-BC66-C9E44FF1CB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Architecture Patterns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Guide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5/27/26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"/>
          <p:cNvPicPr/>
          <p:nvPr/>
        </p:nvPicPr>
        <p:blipFill>
          <a:blip r:embed="rId1"/>
          <a:stretch/>
        </p:blipFill>
        <p:spPr>
          <a:xfrm>
            <a:off x="1644840" y="1247400"/>
            <a:ext cx="6785640" cy="418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1"/>
          <a:stretch/>
        </p:blipFill>
        <p:spPr>
          <a:xfrm>
            <a:off x="20880" y="9360"/>
            <a:ext cx="10080360" cy="567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"/>
          <p:cNvPicPr/>
          <p:nvPr/>
        </p:nvPicPr>
        <p:blipFill>
          <a:blip r:embed="rId1"/>
          <a:stretch/>
        </p:blipFill>
        <p:spPr>
          <a:xfrm>
            <a:off x="61920" y="101160"/>
            <a:ext cx="9998640" cy="548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 (AWS Bedrock)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1"/>
          <a:stretch/>
        </p:blipFill>
        <p:spPr>
          <a:xfrm>
            <a:off x="561600" y="1791720"/>
            <a:ext cx="9006840" cy="301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"/>
          <p:cNvPicPr/>
          <p:nvPr/>
        </p:nvPicPr>
        <p:blipFill>
          <a:blip r:embed="rId1"/>
          <a:stretch/>
        </p:blipFill>
        <p:spPr>
          <a:xfrm>
            <a:off x="974880" y="1502640"/>
            <a:ext cx="7923240" cy="352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Pipeline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tretch/>
        </p:blipFill>
        <p:spPr>
          <a:xfrm>
            <a:off x="363960" y="1513080"/>
            <a:ext cx="9430920" cy="371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Enterprise-level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"/>
          <p:cNvPicPr/>
          <p:nvPr/>
        </p:nvPicPr>
        <p:blipFill>
          <a:blip r:embed="rId1"/>
          <a:stretch/>
        </p:blipFill>
        <p:spPr>
          <a:xfrm>
            <a:off x="1770120" y="441000"/>
            <a:ext cx="6990480" cy="4888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1"/>
          <a:stretch/>
        </p:blipFill>
        <p:spPr>
          <a:xfrm>
            <a:off x="1371600" y="9000"/>
            <a:ext cx="7378920" cy="56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Traditional ML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"/>
          <p:cNvPicPr/>
          <p:nvPr/>
        </p:nvPicPr>
        <p:blipFill>
          <a:blip r:embed="rId1"/>
          <a:stretch/>
        </p:blipFill>
        <p:spPr>
          <a:xfrm>
            <a:off x="0" y="34560"/>
            <a:ext cx="10080720" cy="560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"/>
          <p:cNvPicPr/>
          <p:nvPr/>
        </p:nvPicPr>
        <p:blipFill>
          <a:blip r:embed="rId1"/>
          <a:stretch/>
        </p:blipFill>
        <p:spPr>
          <a:xfrm>
            <a:off x="0" y="56520"/>
            <a:ext cx="9972000" cy="56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MLOps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/>
          <p:cNvPicPr/>
          <p:nvPr/>
        </p:nvPicPr>
        <p:blipFill>
          <a:blip r:embed="rId1"/>
          <a:stretch/>
        </p:blipFill>
        <p:spPr>
          <a:xfrm>
            <a:off x="452880" y="9000"/>
            <a:ext cx="9216360" cy="56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Landing Zone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2225880" y="9000"/>
            <a:ext cx="5670360" cy="56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7522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2026-05-13T21:47:36Z</dcterms:created>
  <dc:creator/>
  <dc:description/>
  <dc:language>en-US</dc:language>
  <cp:lastModifiedBy/>
  <cp:lastPrinted>2026-05-14T15:51:58Z</cp:lastPrinted>
  <dcterms:modified xsi:type="dcterms:W3CDTF">2026-06-02T18:05:28Z</dcterms:modified>
  <cp:revision>160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