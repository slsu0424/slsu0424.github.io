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8.xml" ContentType="application/vnd.openxmlformats-officedocument.theme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D4AB6ED-504C-4254-AE64-278CE60FB1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hyperlink" Target="https://medium.com/@vi.ha.engr/bridging-natural-language-and-databases-best-practices-for-llm-generated-sql-fcba0449d4e5" TargetMode="External"/><Relationship Id="rId2" Type="http://schemas.openxmlformats.org/officeDocument/2006/relationships/slide" Target="../slides/slide2.xml"/><Relationship Id="rId3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hyperlink" Target="https://github.com/arunpshankar/LLM-Text-to-SQL-Architectures" TargetMode="External"/><Relationship Id="rId2" Type="http://schemas.openxmlformats.org/officeDocument/2006/relationships/slide" Target="../slides/slide3.xml"/><Relationship Id="rId3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hyperlink" Target="https://aws.amazon.com/blogs/machine-learning/build-your-gen-ai-based-text-to-sql-application-using-rag-powered-by-amazon-bedrock-claude-3-sonnet-and-amazon-titan-for-embedding/" TargetMode="External"/><Relationship Id="rId2" Type="http://schemas.openxmlformats.org/officeDocument/2006/relationships/slide" Target="../slides/slide5.xml"/><Relationship Id="rId3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hyperlink" Target="https://aws.amazon.com/blogs/machine-learning/dynamic-text-to-sql-for-enterprise-workloads-with-amazon-bedrock-agents/" TargetMode="External"/><Relationship Id="rId2" Type="http://schemas.openxmlformats.org/officeDocument/2006/relationships/slide" Target="../slides/slide7.xml"/><Relationship Id="rId3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hyperlink" Target="https://builder.aws.com/content/2f2d59922DQNz3iH1pCTeudpmhv/aws-bedrock-generative-ai-application-architecture" TargetMode="External"/><Relationship Id="rId2" Type="http://schemas.openxmlformats.org/officeDocument/2006/relationships/slide" Target="../slides/slide10.xml"/><Relationship Id="rId3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560" cy="377028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https://medium.com/@vi.ha.engr/bridging-natural-language-and-databases-best-practices-for-llm-generated-sql-fcba0449d4e5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https://github.com/arunpshankar/LLM-Text-to-SQL-Architectures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108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https://aws.amazon.com/blogs/machine-learning/build-your-gen-ai-based-text-to-sql-application-using-rag-powered-by-amazon-bedrock-claude-3-sonnet-and-amazon-titan-for-embedding/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ldImg"/>
          </p:nvPr>
        </p:nvSpPr>
        <p:spPr>
          <a:xfrm>
            <a:off x="144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https://aws.amazon.com/blogs/machine-learning/dynamic-text-to-sql-for-enterprise-workloads-with-amazon-bedrock-agents/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3560" cy="3770280"/>
          </a:xfrm>
          <a:prstGeom prst="rect">
            <a:avLst/>
          </a:prstGeom>
          <a:ln w="0">
            <a:noFill/>
          </a:ln>
        </p:spPr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6480" cy="4524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hlinkClick r:id="rId1"/>
              </a:rPr>
              <a:t>https://builder.aws.com/content/2f2d59922DQNz3iH1pCTeudpmhv/aws-bedrock-generative-ai-application-architecture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9D6F15-3063-4D01-AD4F-817C5F007BF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B23713-1888-4725-AF29-DA5C144E2C0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C316E66-EB4A-4B53-8F17-E83D6E010F6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ftr" idx="10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11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E0BC24-BE9A-464C-A330-C9C001300DD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2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13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14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BEC5948-5AB5-4C47-9F3C-CBD9BC429B3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15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ftr" idx="16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7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FC95C93-4287-4C1F-998F-D3C06D579CB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8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20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ftr" idx="19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20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9E0C999-BC72-44DF-8805-5C9A599DDE7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21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 Architecture Patterns</a:t>
            </a:r>
            <a:br>
              <a:rPr sz="4400"/>
            </a:b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Guide</a:t>
            </a:r>
            <a:br>
              <a:rPr sz="4400"/>
            </a:b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5/27/26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362520"/>
            <a:ext cx="9070200" cy="671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Intent Detection / Entity Recognition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"/>
          <p:cNvPicPr/>
          <p:nvPr/>
        </p:nvPicPr>
        <p:blipFill>
          <a:blip r:embed="rId1"/>
          <a:stretch/>
        </p:blipFill>
        <p:spPr>
          <a:xfrm>
            <a:off x="1935360" y="1257120"/>
            <a:ext cx="6222600" cy="405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62520"/>
            <a:ext cx="9070200" cy="671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with RAG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"/>
          <p:cNvPicPr/>
          <p:nvPr/>
        </p:nvPicPr>
        <p:blipFill>
          <a:blip r:embed="rId1"/>
          <a:stretch/>
        </p:blipFill>
        <p:spPr>
          <a:xfrm>
            <a:off x="1868760" y="1172160"/>
            <a:ext cx="6417360" cy="431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62520"/>
            <a:ext cx="9070200" cy="671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with RAG (AWS Bedrock)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"/>
          <p:cNvPicPr/>
          <p:nvPr/>
        </p:nvPicPr>
        <p:blipFill>
          <a:blip r:embed="rId1"/>
          <a:stretch/>
        </p:blipFill>
        <p:spPr>
          <a:xfrm>
            <a:off x="561600" y="1791720"/>
            <a:ext cx="9006840" cy="3013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62520"/>
            <a:ext cx="9070200" cy="671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Using SQL Agents (via LangChain)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"/>
          <p:cNvPicPr/>
          <p:nvPr/>
        </p:nvPicPr>
        <p:blipFill>
          <a:blip r:embed="rId1"/>
          <a:stretch/>
        </p:blipFill>
        <p:spPr>
          <a:xfrm>
            <a:off x="1816920" y="1213920"/>
            <a:ext cx="6464880" cy="420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362520"/>
            <a:ext cx="9070200" cy="671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Agentic Text-to-SQL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"/>
          <p:cNvPicPr/>
          <p:nvPr/>
        </p:nvPicPr>
        <p:blipFill>
          <a:blip r:embed="rId1"/>
          <a:stretch/>
        </p:blipFill>
        <p:spPr>
          <a:xfrm>
            <a:off x="974880" y="1502640"/>
            <a:ext cx="7923240" cy="352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920" cy="9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Pipeline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"/>
          <p:cNvPicPr/>
          <p:nvPr/>
        </p:nvPicPr>
        <p:blipFill>
          <a:blip r:embed="rId1"/>
          <a:stretch/>
        </p:blipFill>
        <p:spPr>
          <a:xfrm>
            <a:off x="363960" y="1513080"/>
            <a:ext cx="9430920" cy="371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Enterprise-level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"/>
          <p:cNvPicPr/>
          <p:nvPr/>
        </p:nvPicPr>
        <p:blipFill>
          <a:blip r:embed="rId1"/>
          <a:stretch/>
        </p:blipFill>
        <p:spPr>
          <a:xfrm>
            <a:off x="1770120" y="441000"/>
            <a:ext cx="6990480" cy="4888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7425</TotalTime>
  <Application>LibreOffice/26.2.1.2$MacOSX_AARCH64 LibreOffice_project/8399f6259d8c87f40e7255cdb3c9b958f5e08948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2026-05-13T21:47:36Z</dcterms:created>
  <dc:creator/>
  <dc:description/>
  <dc:language>en-US</dc:language>
  <cp:lastModifiedBy/>
  <cp:lastPrinted>2026-05-14T15:51:58Z</cp:lastPrinted>
  <dcterms:modified xsi:type="dcterms:W3CDTF">2026-06-02T13:40:48Z</dcterms:modified>
  <cp:revision>148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