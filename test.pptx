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6.xml" ContentType="application/vnd.openxmlformats-officedocument.theme+xml"/>
  <Override PartName="/ppt/slideLayouts/slideLayout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media/image4.svg" ContentType="image/svg"/>
  <Override PartName="/ppt/media/image12.svg" ContentType="image/svg"/>
  <Override PartName="/ppt/media/image2.wmf" ContentType="image/x-wmf"/>
  <Override PartName="/ppt/media/image6.svg" ContentType="image/svg"/>
  <Override PartName="/ppt/media/image10.svg" ContentType="image/svg"/>
  <Override PartName="/ppt/media/image18.svg" ContentType="image/svg"/>
  <Override PartName="/ppt/media/image8.svg" ContentType="image/svg"/>
  <Override PartName="/ppt/media/image16.svg" ContentType="image/svg"/>
  <Override PartName="/ppt/media/image20.svg" ContentType="image/svg"/>
  <Override PartName="/ppt/media/image22.svg" ContentType="image/svg"/>
  <Override PartName="/ppt/media/image24.svg" ContentType="image/svg"/>
  <Override PartName="/ppt/media/image14.svg" ContentType="image/svg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microsoft.com/office/2020/02/relationships/classificationlabels" Target="docMetadata/LabelInfo.xml"/><Relationship Id="rId8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dt" idx="10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11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6"/>
          <p:cNvSpPr>
            <a:spLocks noGrp="1"/>
          </p:cNvSpPr>
          <p:nvPr>
            <p:ph type="sldNum" idx="12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7966E8F-7CD3-4F97-BA96-F34878ECC9B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C419DC0-D198-414D-8884-9CAC9A5BFD7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wmf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6520"/>
            <a:ext cx="12191760" cy="516240"/>
          </a:xfrm>
          <a:prstGeom prst="rect">
            <a:avLst/>
          </a:prstGeom>
          <a:solidFill>
            <a:srgbClr val="0049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" name="Picture 3" descr="photo collage about healthcare"/>
          <p:cNvPicPr/>
          <p:nvPr/>
        </p:nvPicPr>
        <p:blipFill>
          <a:blip r:embed="rId2"/>
          <a:stretch/>
        </p:blipFill>
        <p:spPr>
          <a:xfrm>
            <a:off x="0" y="0"/>
            <a:ext cx="8874720" cy="6331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3581280" y="3231720"/>
            <a:ext cx="8160120" cy="2130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90000"/>
              </a:lnSpc>
              <a:buNone/>
              <a:defRPr lang="en-US" sz="6000" b="1" u="none" strike="noStrike">
                <a:solidFill>
                  <a:srgbClr val="004986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90000"/>
              </a:lnSpc>
              <a:buNone/>
            </a:pPr>
            <a:r>
              <a:rPr lang="en-US" sz="6000" b="1" u="none" strike="noStrike">
                <a:solidFill>
                  <a:srgbClr val="004986"/>
                </a:solidFill>
                <a:effectLst/>
                <a:uFillTx/>
                <a:latin typeface="Arial"/>
                <a:ea typeface="Arial"/>
              </a:rPr>
              <a:t>Click to edit Master title style</a:t>
            </a:r>
            <a:endParaRPr lang="en-US" sz="6000" b="1" u="none" strike="noStrike">
              <a:solidFill>
                <a:srgbClr val="004986"/>
              </a:solidFill>
              <a:effectLst/>
              <a:uFillTx/>
              <a:latin typeface="Arial"/>
            </a:endParaRPr>
          </a:p>
        </p:txBody>
      </p:sp>
      <p:pic>
        <p:nvPicPr>
          <p:cNvPr id="5" name="Picture 4" descr="Centers for Medicare &amp; Medicaid Services"/>
          <p:cNvPicPr/>
          <p:nvPr/>
        </p:nvPicPr>
        <p:blipFill>
          <a:blip r:embed="rId3"/>
          <a:stretch/>
        </p:blipFill>
        <p:spPr>
          <a:xfrm>
            <a:off x="8489880" y="2223720"/>
            <a:ext cx="2863800" cy="9903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 Layou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6520"/>
            <a:ext cx="12191760" cy="516240"/>
          </a:xfrm>
          <a:prstGeom prst="rect">
            <a:avLst/>
          </a:prstGeom>
          <a:solidFill>
            <a:srgbClr val="0049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038240" y="526320"/>
            <a:ext cx="10315080" cy="97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800" b="1" u="none" strike="noStrike">
                <a:solidFill>
                  <a:srgbClr val="004986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800" b="1" u="none" strike="noStrike">
                <a:solidFill>
                  <a:srgbClr val="004986"/>
                </a:solidFill>
                <a:effectLst/>
                <a:uFillTx/>
                <a:latin typeface="Arial"/>
                <a:ea typeface="Arial"/>
              </a:rPr>
              <a:t>Click to edit Master title style</a:t>
            </a:r>
            <a:endParaRPr lang="en-US" sz="4800" b="1" u="none" strike="noStrike">
              <a:solidFill>
                <a:srgbClr val="004986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1038240" y="1921680"/>
            <a:ext cx="6509160" cy="415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 hasCustomPrompt="1"/>
          </p:nvPr>
        </p:nvSpPr>
        <p:spPr>
          <a:xfrm>
            <a:off x="8028000" y="1922400"/>
            <a:ext cx="3325320" cy="4152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Picture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lt2">
                    <a:lumMod val="75000"/>
                  </a:schemeClr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lt2">
                    <a:lumMod val="75000"/>
                  </a:schemeClr>
                </a:solidFill>
                <a:effectLst/>
                <a:uFillTx/>
                <a:latin typeface="Arial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lt2">
                    <a:lumMod val="75000"/>
                  </a:schemeClr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lt2">
                    <a:lumMod val="75000"/>
                  </a:schemeClr>
                </a:solidFill>
                <a:effectLst/>
                <a:uFillTx/>
                <a:latin typeface="Arial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3"/>
          </p:nvPr>
        </p:nvSpPr>
        <p:spPr>
          <a:xfrm>
            <a:off x="10889640" y="6356520"/>
            <a:ext cx="46368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D8BD0FF-EE46-4AD1-8E8C-7E39977701D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Custom Layou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6520"/>
            <a:ext cx="12191760" cy="516240"/>
          </a:xfrm>
          <a:prstGeom prst="rect">
            <a:avLst/>
          </a:prstGeom>
          <a:solidFill>
            <a:srgbClr val="0049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038240" y="526320"/>
            <a:ext cx="10315080" cy="976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800" b="1" u="none" strike="noStrike">
                <a:solidFill>
                  <a:srgbClr val="004986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800" b="1" u="none" strike="noStrike">
                <a:solidFill>
                  <a:srgbClr val="004986"/>
                </a:solidFill>
                <a:effectLst/>
                <a:uFillTx/>
                <a:latin typeface="Arial"/>
                <a:ea typeface="Arial"/>
              </a:rPr>
              <a:t>Click to edit Master title style</a:t>
            </a:r>
            <a:endParaRPr lang="en-US" sz="4800" b="1" u="none" strike="noStrike">
              <a:solidFill>
                <a:srgbClr val="004986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1038240" y="1921680"/>
            <a:ext cx="10315080" cy="415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lt2">
                    <a:lumMod val="75000"/>
                  </a:schemeClr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lt2">
                    <a:lumMod val="75000"/>
                  </a:schemeClr>
                </a:solidFill>
                <a:effectLst/>
                <a:uFillTx/>
                <a:latin typeface="Arial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lt2">
                    <a:lumMod val="75000"/>
                  </a:schemeClr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lt2">
                    <a:lumMod val="75000"/>
                  </a:schemeClr>
                </a:solidFill>
                <a:effectLst/>
                <a:uFillTx/>
                <a:latin typeface="Arial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6719CFB-EA8D-40CB-BB3F-0965C1EF27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4_Custom Layou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6520"/>
            <a:ext cx="12191760" cy="516240"/>
          </a:xfrm>
          <a:prstGeom prst="rect">
            <a:avLst/>
          </a:prstGeom>
          <a:solidFill>
            <a:srgbClr val="0049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1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lt2">
                    <a:lumMod val="75000"/>
                  </a:schemeClr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lt2">
                    <a:lumMod val="75000"/>
                  </a:schemeClr>
                </a:solidFill>
                <a:effectLst/>
                <a:uFillTx/>
                <a:latin typeface="Arial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lt2">
                    <a:lumMod val="75000"/>
                  </a:schemeClr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lt2">
                    <a:lumMod val="75000"/>
                  </a:schemeClr>
                </a:solidFill>
                <a:effectLst/>
                <a:uFillTx/>
                <a:latin typeface="Arial"/>
              </a:rPr>
              <a:t>&lt;footer&gt;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9953BCD-80A9-4144-A244-0D88FE169E2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title"/>
          </p:nvPr>
        </p:nvSpPr>
        <p:spPr>
          <a:xfrm>
            <a:off x="1303560" y="2542320"/>
            <a:ext cx="10515240" cy="1128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800" b="1" u="none" strike="noStrike">
                <a:solidFill>
                  <a:srgbClr val="004986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800" b="1" u="none" strike="noStrike">
                <a:solidFill>
                  <a:srgbClr val="004986"/>
                </a:solidFill>
                <a:effectLst/>
                <a:uFillTx/>
                <a:latin typeface="Arial"/>
                <a:ea typeface="Arial"/>
              </a:rPr>
              <a:t>Click to edit Master title style</a:t>
            </a:r>
            <a:endParaRPr lang="en-US" sz="4800" b="1" u="none" strike="noStrike">
              <a:solidFill>
                <a:srgbClr val="004986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6356520"/>
            <a:ext cx="12191760" cy="516240"/>
          </a:xfrm>
          <a:prstGeom prst="rect">
            <a:avLst/>
          </a:prstGeom>
          <a:solidFill>
            <a:srgbClr val="0049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svg"/><Relationship Id="rId3" Type="http://schemas.openxmlformats.org/officeDocument/2006/relationships/image" Target="../media/image5.png"/><Relationship Id="rId4" Type="http://schemas.openxmlformats.org/officeDocument/2006/relationships/image" Target="../media/image6.sv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image" Target="../media/image7.png"/><Relationship Id="rId8" Type="http://schemas.openxmlformats.org/officeDocument/2006/relationships/image" Target="../media/image8.svg"/><Relationship Id="rId9" Type="http://schemas.openxmlformats.org/officeDocument/2006/relationships/image" Target="../media/image9.png"/><Relationship Id="rId10" Type="http://schemas.openxmlformats.org/officeDocument/2006/relationships/image" Target="../media/image10.svg"/><Relationship Id="rId11" Type="http://schemas.openxmlformats.org/officeDocument/2006/relationships/image" Target="../media/image11.png"/><Relationship Id="rId12" Type="http://schemas.openxmlformats.org/officeDocument/2006/relationships/image" Target="../media/image12.svg"/><Relationship Id="rId13" Type="http://schemas.openxmlformats.org/officeDocument/2006/relationships/image" Target="../media/image13.png"/><Relationship Id="rId14" Type="http://schemas.openxmlformats.org/officeDocument/2006/relationships/image" Target="../media/image14.svg"/><Relationship Id="rId15" Type="http://schemas.openxmlformats.org/officeDocument/2006/relationships/image" Target="../media/image15.png"/><Relationship Id="rId16" Type="http://schemas.openxmlformats.org/officeDocument/2006/relationships/image" Target="../media/image16.svg"/><Relationship Id="rId17" Type="http://schemas.openxmlformats.org/officeDocument/2006/relationships/image" Target="../media/image17.png"/><Relationship Id="rId18" Type="http://schemas.openxmlformats.org/officeDocument/2006/relationships/image" Target="../media/image18.svg"/><Relationship Id="rId19" Type="http://schemas.openxmlformats.org/officeDocument/2006/relationships/image" Target="../media/image19.png"/><Relationship Id="rId20" Type="http://schemas.openxmlformats.org/officeDocument/2006/relationships/image" Target="../media/image20.svg"/><Relationship Id="rId21" Type="http://schemas.openxmlformats.org/officeDocument/2006/relationships/image" Target="../media/image21.png"/><Relationship Id="rId22" Type="http://schemas.openxmlformats.org/officeDocument/2006/relationships/image" Target="../media/image22.svg"/><Relationship Id="rId23" Type="http://schemas.openxmlformats.org/officeDocument/2006/relationships/image" Target="../media/image23.png"/><Relationship Id="rId24" Type="http://schemas.openxmlformats.org/officeDocument/2006/relationships/image" Target="../media/image24.svg"/><Relationship Id="rId25" Type="http://schemas.openxmlformats.org/officeDocument/2006/relationships/slideLayout" Target="../slideLayouts/slideLayout5.xml"/><Relationship Id="rId26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: Rounded Corners 10"/>
          <p:cNvSpPr/>
          <p:nvPr/>
        </p:nvSpPr>
        <p:spPr>
          <a:xfrm>
            <a:off x="3659760" y="1501200"/>
            <a:ext cx="3847320" cy="2488320"/>
          </a:xfrm>
          <a:prstGeom prst="roundRect">
            <a:avLst>
              <a:gd name="adj" fmla="val 3912"/>
            </a:avLst>
          </a:prstGeom>
          <a:solidFill>
            <a:schemeClr val="bg1"/>
          </a:solidFill>
          <a:ln>
            <a:noFill/>
          </a:ln>
          <a:effectLst>
            <a:outerShdw algn="ctr" blurRad="152280" rotWithShape="0" sx="102000" sy="10200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32" name="Rectangle: Rounded Corners 11"/>
          <p:cNvSpPr/>
          <p:nvPr/>
        </p:nvSpPr>
        <p:spPr>
          <a:xfrm>
            <a:off x="7810920" y="1501200"/>
            <a:ext cx="3847320" cy="2488320"/>
          </a:xfrm>
          <a:prstGeom prst="roundRect">
            <a:avLst>
              <a:gd name="adj" fmla="val 3912"/>
            </a:avLst>
          </a:prstGeom>
          <a:solidFill>
            <a:schemeClr val="bg1"/>
          </a:solidFill>
          <a:ln>
            <a:noFill/>
          </a:ln>
          <a:effectLst>
            <a:outerShdw algn="ctr" blurRad="152280" rotWithShape="0" sx="102000" sy="10200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33" name="Rectangle: Rounded Corners 12"/>
          <p:cNvSpPr/>
          <p:nvPr/>
        </p:nvSpPr>
        <p:spPr>
          <a:xfrm>
            <a:off x="3659760" y="4170240"/>
            <a:ext cx="8114760" cy="2010240"/>
          </a:xfrm>
          <a:prstGeom prst="roundRect">
            <a:avLst>
              <a:gd name="adj" fmla="val 5931"/>
            </a:avLst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34" name="Rectangle 3"/>
          <p:cNvSpPr/>
          <p:nvPr/>
        </p:nvSpPr>
        <p:spPr>
          <a:xfrm>
            <a:off x="0" y="1470960"/>
            <a:ext cx="3216600" cy="103104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35" name="TextBox 69"/>
          <p:cNvSpPr/>
          <p:nvPr/>
        </p:nvSpPr>
        <p:spPr>
          <a:xfrm>
            <a:off x="532080" y="1694520"/>
            <a:ext cx="2152080" cy="58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GB" sz="160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Business </a:t>
            </a:r>
            <a:br>
              <a:rPr sz="1600"/>
            </a:br>
            <a:r>
              <a:rPr lang="en-GB" sz="160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Snapshot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Flowchart: Connector 40"/>
          <p:cNvSpPr/>
          <p:nvPr/>
        </p:nvSpPr>
        <p:spPr>
          <a:xfrm>
            <a:off x="179640" y="2580480"/>
            <a:ext cx="328680" cy="328680"/>
          </a:xfrm>
          <a:prstGeom prst="flowChartConnector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37" name="Flowchart: Connector 41"/>
          <p:cNvSpPr/>
          <p:nvPr/>
        </p:nvSpPr>
        <p:spPr>
          <a:xfrm>
            <a:off x="179640" y="3005640"/>
            <a:ext cx="328680" cy="328680"/>
          </a:xfrm>
          <a:prstGeom prst="flowChartConnector">
            <a:avLst/>
          </a:prstGeom>
          <a:solidFill>
            <a:srgbClr val="0D8F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38" name="Flowchart: Connector 42"/>
          <p:cNvSpPr/>
          <p:nvPr/>
        </p:nvSpPr>
        <p:spPr>
          <a:xfrm>
            <a:off x="182880" y="3904560"/>
            <a:ext cx="328680" cy="328680"/>
          </a:xfrm>
          <a:prstGeom prst="flowChartConnector">
            <a:avLst/>
          </a:prstGeom>
          <a:solidFill>
            <a:srgbClr val="0D8F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39" name="Flowchart: Connector 43"/>
          <p:cNvSpPr/>
          <p:nvPr/>
        </p:nvSpPr>
        <p:spPr>
          <a:xfrm>
            <a:off x="179640" y="4337640"/>
            <a:ext cx="328680" cy="328680"/>
          </a:xfrm>
          <a:prstGeom prst="flowChartConnector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40" name="Flowchart: Connector 45"/>
          <p:cNvSpPr/>
          <p:nvPr/>
        </p:nvSpPr>
        <p:spPr>
          <a:xfrm>
            <a:off x="179640" y="3453840"/>
            <a:ext cx="328680" cy="328680"/>
          </a:xfrm>
          <a:prstGeom prst="flowChartConnector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41" name="Flowchart: Connector 46"/>
          <p:cNvSpPr/>
          <p:nvPr/>
        </p:nvSpPr>
        <p:spPr>
          <a:xfrm>
            <a:off x="3962880" y="1603080"/>
            <a:ext cx="510480" cy="511920"/>
          </a:xfrm>
          <a:prstGeom prst="flowChartConnector">
            <a:avLst/>
          </a:prstGeom>
          <a:solidFill>
            <a:srgbClr val="4472C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42" name="Flowchart: Connector 47"/>
          <p:cNvSpPr/>
          <p:nvPr/>
        </p:nvSpPr>
        <p:spPr>
          <a:xfrm>
            <a:off x="7926120" y="1603080"/>
            <a:ext cx="510480" cy="511920"/>
          </a:xfrm>
          <a:prstGeom prst="flowChartConnector">
            <a:avLst/>
          </a:prstGeom>
          <a:solidFill>
            <a:srgbClr val="0D8F8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43" name="Flowchart: Connector 48"/>
          <p:cNvSpPr/>
          <p:nvPr/>
        </p:nvSpPr>
        <p:spPr>
          <a:xfrm>
            <a:off x="4380120" y="4620600"/>
            <a:ext cx="582840" cy="582840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44" name="Flowchart: Connector 49"/>
          <p:cNvSpPr/>
          <p:nvPr/>
        </p:nvSpPr>
        <p:spPr>
          <a:xfrm>
            <a:off x="6369840" y="4620600"/>
            <a:ext cx="582840" cy="582840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45" name="Flowchart: Connector 50"/>
          <p:cNvSpPr/>
          <p:nvPr/>
        </p:nvSpPr>
        <p:spPr>
          <a:xfrm>
            <a:off x="8320320" y="4620600"/>
            <a:ext cx="582840" cy="582840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46" name="Flowchart: Connector 51"/>
          <p:cNvSpPr/>
          <p:nvPr/>
        </p:nvSpPr>
        <p:spPr>
          <a:xfrm>
            <a:off x="10347480" y="4620600"/>
            <a:ext cx="582840" cy="582840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IN" sz="1800" b="0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47" name="TextBox 70"/>
          <p:cNvSpPr/>
          <p:nvPr/>
        </p:nvSpPr>
        <p:spPr>
          <a:xfrm>
            <a:off x="528840" y="2606400"/>
            <a:ext cx="27774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IN" sz="12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Approver</a:t>
            </a:r>
            <a:r>
              <a:rPr lang="en-IN" sz="1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:       CMS business group</a:t>
            </a:r>
            <a:br>
              <a:rPr sz="1200"/>
            </a:b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Box 71"/>
          <p:cNvSpPr/>
          <p:nvPr/>
        </p:nvSpPr>
        <p:spPr>
          <a:xfrm>
            <a:off x="528840" y="3031920"/>
            <a:ext cx="2702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IN" sz="12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Cost impact</a:t>
            </a:r>
            <a:r>
              <a:rPr lang="en-IN" sz="1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: Small ($)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Box 72"/>
          <p:cNvSpPr/>
          <p:nvPr/>
        </p:nvSpPr>
        <p:spPr>
          <a:xfrm>
            <a:off x="528840" y="3924720"/>
            <a:ext cx="27025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GB" sz="12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Ops Risk</a:t>
            </a: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:       None identified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Box 73"/>
          <p:cNvSpPr/>
          <p:nvPr/>
        </p:nvSpPr>
        <p:spPr>
          <a:xfrm>
            <a:off x="528840" y="4363920"/>
            <a:ext cx="2702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GB" sz="12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Compliance</a:t>
            </a: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: CMS-approved LLMs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Box 75"/>
          <p:cNvSpPr/>
          <p:nvPr/>
        </p:nvSpPr>
        <p:spPr>
          <a:xfrm>
            <a:off x="528840" y="3479760"/>
            <a:ext cx="2702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GB" sz="12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Time impact</a:t>
            </a: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: Small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2" name="Straight Connector 44"/>
          <p:cNvCxnSpPr/>
          <p:nvPr/>
        </p:nvCxnSpPr>
        <p:spPr>
          <a:xfrm flipH="1">
            <a:off x="4338360" y="4374720"/>
            <a:ext cx="2084040" cy="720"/>
          </a:xfrm>
          <a:prstGeom prst="straightConnector1">
            <a:avLst/>
          </a:prstGeom>
          <a:ln w="0">
            <a:solidFill>
              <a:srgbClr val="FFFFFF"/>
            </a:solidFill>
            <a:headEnd len="med" type="oval" w="med"/>
          </a:ln>
        </p:spPr>
      </p:cxnSp>
      <p:cxnSp>
        <p:nvCxnSpPr>
          <p:cNvPr id="53" name="Straight Connector 46"/>
          <p:cNvCxnSpPr/>
          <p:nvPr/>
        </p:nvCxnSpPr>
        <p:spPr>
          <a:xfrm>
            <a:off x="9011880" y="4374720"/>
            <a:ext cx="2084400" cy="720"/>
          </a:xfrm>
          <a:prstGeom prst="straightConnector1">
            <a:avLst/>
          </a:prstGeom>
          <a:ln w="0">
            <a:solidFill>
              <a:srgbClr val="FFFFFF"/>
            </a:solidFill>
            <a:headEnd len="med" type="oval" w="med"/>
          </a:ln>
        </p:spPr>
      </p:cxnSp>
      <p:sp>
        <p:nvSpPr>
          <p:cNvPr id="54" name="TextBox 76"/>
          <p:cNvSpPr/>
          <p:nvPr/>
        </p:nvSpPr>
        <p:spPr>
          <a:xfrm>
            <a:off x="6576840" y="4221000"/>
            <a:ext cx="228060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IN" sz="140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Technical Readiness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Straight Connector 47"/>
          <p:cNvCxnSpPr/>
          <p:nvPr/>
        </p:nvCxnSpPr>
        <p:spPr>
          <a:xfrm flipV="1">
            <a:off x="5589720" y="4654080"/>
            <a:ext cx="720" cy="1300680"/>
          </a:xfrm>
          <a:prstGeom prst="straightConnector1">
            <a:avLst/>
          </a:prstGeom>
          <a:ln w="0">
            <a:solidFill>
              <a:srgbClr val="FFFFFF"/>
            </a:solidFill>
          </a:ln>
        </p:spPr>
      </p:cxnSp>
      <p:cxnSp>
        <p:nvCxnSpPr>
          <p:cNvPr id="56" name="Straight Connector 49"/>
          <p:cNvCxnSpPr/>
          <p:nvPr/>
        </p:nvCxnSpPr>
        <p:spPr>
          <a:xfrm flipV="1">
            <a:off x="7716960" y="4654080"/>
            <a:ext cx="720" cy="1300680"/>
          </a:xfrm>
          <a:prstGeom prst="straightConnector1">
            <a:avLst/>
          </a:prstGeom>
          <a:ln w="0">
            <a:solidFill>
              <a:srgbClr val="FFFFFF"/>
            </a:solidFill>
          </a:ln>
        </p:spPr>
      </p:cxnSp>
      <p:cxnSp>
        <p:nvCxnSpPr>
          <p:cNvPr id="57" name="Straight Connector 50"/>
          <p:cNvCxnSpPr/>
          <p:nvPr/>
        </p:nvCxnSpPr>
        <p:spPr>
          <a:xfrm flipV="1">
            <a:off x="9518760" y="4654080"/>
            <a:ext cx="720" cy="1300680"/>
          </a:xfrm>
          <a:prstGeom prst="straightConnector1">
            <a:avLst/>
          </a:prstGeom>
          <a:ln w="0">
            <a:solidFill>
              <a:srgbClr val="FFFFFF"/>
            </a:solidFill>
          </a:ln>
        </p:spPr>
      </p:cxnSp>
      <p:sp>
        <p:nvSpPr>
          <p:cNvPr id="58" name="TextBox 77"/>
          <p:cNvSpPr/>
          <p:nvPr/>
        </p:nvSpPr>
        <p:spPr>
          <a:xfrm>
            <a:off x="3774240" y="5245920"/>
            <a:ext cx="1794600" cy="102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  <a:spcBef>
                <a:spcPts val="601"/>
              </a:spcBef>
            </a:pPr>
            <a:r>
              <a:rPr lang="en-IN" sz="120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Architecture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601"/>
              </a:spcBef>
            </a:pPr>
            <a:r>
              <a:rPr lang="en-IN" sz="1100" b="0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Salesforce, AWS Lambda, Bedrock (LLMs, Knowledge Base)</a:t>
            </a:r>
            <a:br>
              <a:rPr sz="1100"/>
            </a:b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Box 78"/>
          <p:cNvSpPr/>
          <p:nvPr/>
        </p:nvSpPr>
        <p:spPr>
          <a:xfrm>
            <a:off x="5763960" y="5245920"/>
            <a:ext cx="1794600" cy="86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  <a:spcBef>
                <a:spcPts val="601"/>
              </a:spcBef>
            </a:pPr>
            <a:r>
              <a:rPr lang="en-GB" sz="120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Prompt Engineering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601"/>
              </a:spcBef>
            </a:pPr>
            <a:r>
              <a:rPr lang="en-GB" sz="1100" b="0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Other LLMs yielded subpar responses to prompts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79"/>
          <p:cNvSpPr/>
          <p:nvPr/>
        </p:nvSpPr>
        <p:spPr>
          <a:xfrm>
            <a:off x="7714440" y="5245920"/>
            <a:ext cx="1794600" cy="86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  <a:spcBef>
                <a:spcPts val="601"/>
              </a:spcBef>
            </a:pPr>
            <a:r>
              <a:rPr lang="en-GB" sz="120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Testing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601"/>
              </a:spcBef>
            </a:pPr>
            <a:r>
              <a:rPr lang="en-GB" sz="1100" b="0" u="none" strike="noStrike">
                <a:solidFill>
                  <a:schemeClr val="lt1"/>
                </a:solidFill>
                <a:effectLst/>
                <a:uFillTx/>
                <a:latin typeface="Segoe UI"/>
                <a:ea typeface="Calibri"/>
              </a:rPr>
              <a:t>Using request/ response pairs to test accuracy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80"/>
          <p:cNvSpPr/>
          <p:nvPr/>
        </p:nvSpPr>
        <p:spPr>
          <a:xfrm>
            <a:off x="9741600" y="5245920"/>
            <a:ext cx="1794600" cy="86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  <a:spcBef>
                <a:spcPts val="601"/>
              </a:spcBef>
            </a:pPr>
            <a:r>
              <a:rPr lang="en-GB" sz="120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Monitoring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601"/>
              </a:spcBef>
            </a:pPr>
            <a:r>
              <a:rPr lang="en-GB" sz="1100" b="0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Usage limits are set at the profile level </a:t>
            </a:r>
            <a:br>
              <a:rPr sz="1100"/>
            </a:br>
            <a:r>
              <a:rPr lang="en-GB" sz="1100" b="0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(e.g., token usage)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81"/>
          <p:cNvSpPr/>
          <p:nvPr/>
        </p:nvSpPr>
        <p:spPr>
          <a:xfrm>
            <a:off x="3930840" y="2145960"/>
            <a:ext cx="3204360" cy="179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85840" indent="-216000" defTabSz="9144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Wingdings" charset="2"/>
              <a:buChar char=""/>
            </a:pPr>
            <a:r>
              <a:rPr lang="en-IN" sz="1200" b="0" u="none" strike="noStrik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Segoe UI"/>
              </a:rPr>
              <a:t>Other LLMs tested: AWS Nova</a:t>
            </a:r>
            <a:r>
              <a:rPr lang="en-US" sz="1200" b="0" u="none" strike="noStrike">
                <a:solidFill>
                  <a:schemeClr val="dk1"/>
                </a:solidFill>
                <a:effectLst/>
                <a:highlight>
                  <a:srgbClr val="FFFFFF"/>
                </a:highlight>
                <a:uFillTx/>
                <a:latin typeface="Segoe UI"/>
              </a:rPr>
              <a:t>, Mistral, Meta Llama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16000" defTabSz="9144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Wingdings" charset="2"/>
              <a:buChar char=""/>
            </a:pPr>
            <a:r>
              <a:rPr lang="en-IN" sz="12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egoe UI"/>
              </a:rPr>
              <a:t>Anthropic Claude </a:t>
            </a:r>
            <a:r>
              <a:rPr lang="en-IN" sz="120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ptos"/>
              </a:rPr>
              <a:t>scored significantly higher in accuracy &amp; quality of response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16000" defTabSz="9144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Wingdings" charset="2"/>
              <a:buChar char=""/>
            </a:pPr>
            <a:r>
              <a:rPr lang="en-IN" sz="1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Switching models would be a small effort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16000" defTabSz="9144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Wingdings" charset="2"/>
              <a:buChar char=""/>
            </a:pPr>
            <a:r>
              <a:rPr lang="en-IN" sz="12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Segoe UI"/>
              </a:rPr>
              <a:t>Workflow enhancements underway to reduce token usage (reduce cost)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82"/>
          <p:cNvSpPr/>
          <p:nvPr/>
        </p:nvSpPr>
        <p:spPr>
          <a:xfrm>
            <a:off x="7863120" y="2145960"/>
            <a:ext cx="3204360" cy="179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85840" indent="-216000" defTabSz="9144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Wingdings" charset="2"/>
              <a:buChar char="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Explore other AWS Bedrock capabilities for scalability and maintainability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16000" defTabSz="9144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Wingdings" charset="2"/>
              <a:buChar char="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Consider additional testing measures beyond qualitative evaluation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16000" defTabSz="9144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Wingdings" charset="2"/>
              <a:buChar char="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Define solution performance metrics before switching to a different model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16000" defTabSz="9144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Wingdings" charset="2"/>
              <a:buChar char="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Implement robust monitoring tools for overall solution behavior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84"/>
          <p:cNvSpPr/>
          <p:nvPr/>
        </p:nvSpPr>
        <p:spPr>
          <a:xfrm>
            <a:off x="8676720" y="1642320"/>
            <a:ext cx="2280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IN" sz="14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Recommendations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5" name="Straight Connector 53"/>
          <p:cNvCxnSpPr/>
          <p:nvPr/>
        </p:nvCxnSpPr>
        <p:spPr>
          <a:xfrm>
            <a:off x="8766360" y="1946880"/>
            <a:ext cx="1983240" cy="720"/>
          </a:xfrm>
          <a:prstGeom prst="straightConnector1">
            <a:avLst/>
          </a:prstGeom>
          <a:ln w="0">
            <a:solidFill>
              <a:srgbClr val="4472C4"/>
            </a:solidFill>
          </a:ln>
        </p:spPr>
      </p:cxnSp>
      <p:sp>
        <p:nvSpPr>
          <p:cNvPr id="66" name="TextBox 85"/>
          <p:cNvSpPr/>
          <p:nvPr/>
        </p:nvSpPr>
        <p:spPr>
          <a:xfrm>
            <a:off x="4635720" y="1642320"/>
            <a:ext cx="2280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IN" sz="14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Trade-off Summary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7" name="Straight Connector 54"/>
          <p:cNvCxnSpPr/>
          <p:nvPr/>
        </p:nvCxnSpPr>
        <p:spPr>
          <a:xfrm>
            <a:off x="4807800" y="1944000"/>
            <a:ext cx="1983240" cy="720"/>
          </a:xfrm>
          <a:prstGeom prst="straightConnector1">
            <a:avLst/>
          </a:prstGeom>
          <a:ln w="0">
            <a:solidFill>
              <a:srgbClr val="4472C4"/>
            </a:solidFill>
          </a:ln>
        </p:spPr>
      </p:cxnSp>
      <p:cxnSp>
        <p:nvCxnSpPr>
          <p:cNvPr id="68" name="Straight Connector 55"/>
          <p:cNvCxnSpPr/>
          <p:nvPr/>
        </p:nvCxnSpPr>
        <p:spPr>
          <a:xfrm>
            <a:off x="575280" y="2957040"/>
            <a:ext cx="2482920" cy="720"/>
          </a:xfrm>
          <a:prstGeom prst="straightConnector1">
            <a:avLst/>
          </a:prstGeom>
          <a:ln w="0">
            <a:solidFill>
              <a:srgbClr val="A6A6A6"/>
            </a:solidFill>
          </a:ln>
        </p:spPr>
      </p:cxnSp>
      <p:cxnSp>
        <p:nvCxnSpPr>
          <p:cNvPr id="69" name="Straight Connector 56"/>
          <p:cNvCxnSpPr/>
          <p:nvPr/>
        </p:nvCxnSpPr>
        <p:spPr>
          <a:xfrm>
            <a:off x="575280" y="3382560"/>
            <a:ext cx="2482920" cy="720"/>
          </a:xfrm>
          <a:prstGeom prst="straightConnector1">
            <a:avLst/>
          </a:prstGeom>
          <a:ln w="0">
            <a:solidFill>
              <a:srgbClr val="A6A6A6"/>
            </a:solidFill>
          </a:ln>
        </p:spPr>
      </p:cxnSp>
      <p:cxnSp>
        <p:nvCxnSpPr>
          <p:cNvPr id="70" name="Straight Connector 57"/>
          <p:cNvCxnSpPr/>
          <p:nvPr/>
        </p:nvCxnSpPr>
        <p:spPr>
          <a:xfrm>
            <a:off x="575280" y="3827520"/>
            <a:ext cx="2482920" cy="720"/>
          </a:xfrm>
          <a:prstGeom prst="straightConnector1">
            <a:avLst/>
          </a:prstGeom>
          <a:ln w="0">
            <a:solidFill>
              <a:srgbClr val="A6A6A6"/>
            </a:solidFill>
          </a:ln>
        </p:spPr>
      </p:cxnSp>
      <p:cxnSp>
        <p:nvCxnSpPr>
          <p:cNvPr id="71" name="Straight Connector 58"/>
          <p:cNvCxnSpPr/>
          <p:nvPr/>
        </p:nvCxnSpPr>
        <p:spPr>
          <a:xfrm>
            <a:off x="575280" y="4260600"/>
            <a:ext cx="2482920" cy="720"/>
          </a:xfrm>
          <a:prstGeom prst="straightConnector1">
            <a:avLst/>
          </a:prstGeom>
          <a:ln w="0">
            <a:solidFill>
              <a:srgbClr val="A6A6A6"/>
            </a:solidFill>
          </a:ln>
        </p:spPr>
      </p:cxnSp>
      <p:cxnSp>
        <p:nvCxnSpPr>
          <p:cNvPr id="72" name="Straight Connector 59"/>
          <p:cNvCxnSpPr/>
          <p:nvPr/>
        </p:nvCxnSpPr>
        <p:spPr>
          <a:xfrm>
            <a:off x="575280" y="4658760"/>
            <a:ext cx="2482920" cy="720"/>
          </a:xfrm>
          <a:prstGeom prst="straightConnector1">
            <a:avLst/>
          </a:prstGeom>
          <a:ln w="0">
            <a:solidFill>
              <a:srgbClr val="A6A6A6"/>
            </a:solidFill>
          </a:ln>
        </p:spPr>
      </p:cxnSp>
      <p:sp>
        <p:nvSpPr>
          <p:cNvPr id="73" name="Title 1"/>
          <p:cNvSpPr/>
          <p:nvPr/>
        </p:nvSpPr>
        <p:spPr>
          <a:xfrm>
            <a:off x="1038240" y="526320"/>
            <a:ext cx="10315080" cy="97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90000"/>
              </a:lnSpc>
            </a:pPr>
            <a:r>
              <a:rPr lang="en-US" sz="4800" b="1" u="none" strike="noStrike">
                <a:solidFill>
                  <a:srgbClr val="004986"/>
                </a:solidFill>
                <a:effectLst/>
                <a:uFillTx/>
                <a:latin typeface="Arial"/>
                <a:ea typeface="Arial"/>
              </a:rPr>
              <a:t>PSP RADVI AI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75"/>
          <p:cNvSpPr/>
          <p:nvPr/>
        </p:nvSpPr>
        <p:spPr>
          <a:xfrm>
            <a:off x="352080" y="4973040"/>
            <a:ext cx="2702520" cy="2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GB" sz="1200" b="1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Rework Assessment: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Google Shape;712;p 1"/>
          <p:cNvSpPr/>
          <p:nvPr/>
        </p:nvSpPr>
        <p:spPr>
          <a:xfrm>
            <a:off x="1198440" y="5408640"/>
            <a:ext cx="822960" cy="362160"/>
          </a:xfrm>
          <a:prstGeom prst="rect">
            <a:avLst/>
          </a:prstGeom>
          <a:solidFill>
            <a:srgbClr val="FFFF00"/>
          </a:solidFill>
          <a:ln w="0">
            <a:solidFill>
              <a:srgbClr val="FFFF00"/>
            </a:solidFill>
          </a:ln>
        </p:spPr>
        <p:style>
          <a:lnRef idx="0"/>
          <a:fillRef idx="0"/>
          <a:effectRef idx="0"/>
          <a:fontRef idx="minor"/>
        </p:style>
        <p:txBody>
          <a:bodyPr lIns="68400" tIns="34200" rIns="68400" bIns="342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id" sz="1200" b="0" u="none" strike="noStrike">
                <a:solidFill>
                  <a:srgbClr val="000000"/>
                </a:solidFill>
                <a:effectLst/>
                <a:uFillTx/>
                <a:latin typeface="Segoe UI"/>
                <a:ea typeface="Calibri"/>
              </a:rPr>
              <a:t>Medium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228600" y="3054240"/>
            <a:ext cx="237600" cy="237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228600" y="2624400"/>
            <a:ext cx="237600" cy="237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2703600" y="4876560"/>
            <a:ext cx="237600" cy="237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9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228600" y="3493080"/>
            <a:ext cx="237600" cy="237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0" name="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237600" y="3950280"/>
            <a:ext cx="237600" cy="237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1" name=""/>
          <p:cNvPicPr/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228600" y="4380120"/>
            <a:ext cx="237600" cy="237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" name=""/>
          <p:cNvPicPr/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>
          <a:xfrm>
            <a:off x="3959280" y="1618560"/>
            <a:ext cx="493920" cy="493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" name=""/>
          <p:cNvPicPr/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/>
        </p:blipFill>
        <p:spPr>
          <a:xfrm>
            <a:off x="7936920" y="1609200"/>
            <a:ext cx="493920" cy="493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" name=""/>
          <p:cNvPicPr/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/>
        </p:blipFill>
        <p:spPr>
          <a:xfrm>
            <a:off x="4380120" y="4626720"/>
            <a:ext cx="585360" cy="585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5" name=""/>
          <p:cNvPicPr/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/>
        </p:blipFill>
        <p:spPr>
          <a:xfrm>
            <a:off x="6391800" y="4608720"/>
            <a:ext cx="585360" cy="585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6" name=""/>
          <p:cNvPicPr/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/>
        </p:blipFill>
        <p:spPr>
          <a:xfrm>
            <a:off x="8373240" y="4656600"/>
            <a:ext cx="493920" cy="493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7" name=""/>
          <p:cNvPicPr/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/>
        </p:blipFill>
        <p:spPr>
          <a:xfrm>
            <a:off x="10396800" y="4672440"/>
            <a:ext cx="493920" cy="493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5_Custom Design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3C2EED5A8D3044D9500DA1C802C3862" ma:contentTypeVersion="4" ma:contentTypeDescription="Create a new document." ma:contentTypeScope="" ma:versionID="c840d6b4daa6ca526176ca2944eb0dac">
  <xsd:schema xmlns:xsd="http://www.w3.org/2001/XMLSchema" xmlns:xs="http://www.w3.org/2001/XMLSchema" xmlns:p="http://schemas.microsoft.com/office/2006/metadata/properties" xmlns:ns2="6fe3e220-981c-4290-bffd-cada7f9da667" targetNamespace="http://schemas.microsoft.com/office/2006/metadata/properties" ma:root="true" ma:fieldsID="da1df62882ff8c974e729af9e9348899" ns2:_="">
    <xsd:import namespace="6fe3e220-981c-4290-bffd-cada7f9da66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fe3e220-981c-4290-bffd-cada7f9da66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11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5694CB6-6263-4B07-A6E6-318722160B81}">
  <ds:schemaRefs>
    <ds:schemaRef ds:uri="6fe3e220-981c-4290-bffd-cada7f9da66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3143806-B93D-4F39-ADC3-B33104900339}">
  <ds:schemaRefs>
    <ds:schemaRef ds:uri="6fe3e220-981c-4290-bffd-cada7f9da667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F06F8F97-E881-48BB-B2DA-7848B074007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51d9dc18-15ea-424b-b24d-55ab4d4e7519}" enabled="1" method="Privileged" siteId="{66d73691-ea97-48b1-95d5-e94f0a46b878}" removed="0"/>
  <clbl:label id="{d5fe813e-0caa-432a-b2ac-d555aa91bd1c}" enabled="0" method="" siteId="{d5fe813e-0caa-432a-b2ac-d555aa91bd1c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</TotalTime>
  <Application>LibreOffice/26.2.1.2$MacOSX_AARCH64 LibreOffice_project/8399f6259d8c87f40e7255cdb3c9b958f5e08948</Application>
  <AppVersion>15.0000</AppVersion>
  <Words>173</Words>
  <Paragraphs>31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2017-09-22T15:24:43Z</dcterms:created>
  <dc:creator>CMS MultimediaServices</dc:creator>
  <dc:description/>
  <dc:language>en-US</dc:language>
  <cp:lastModifiedBy/>
  <dcterms:modified xsi:type="dcterms:W3CDTF">2026-07-17T16:08:29Z</dcterms:modified>
  <cp:revision>297</cp:revision>
  <dc:subject/>
  <dc:title>CMS-PPT-Template-Patient-Collage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MSConfluenceLink">
    <vt:lpwstr>, </vt:lpwstr>
  </property>
  <property fmtid="{D5CDD505-2E9C-101B-9397-08002B2CF9AE}" pid="3" name="ComplianceAssetId">
    <vt:lpwstr/>
  </property>
  <property fmtid="{D5CDD505-2E9C-101B-9397-08002B2CF9AE}" pid="4" name="ContentTypeId">
    <vt:lpwstr>0x01010013C2EED5A8D3044D9500DA1C802C3862</vt:lpwstr>
  </property>
  <property fmtid="{D5CDD505-2E9C-101B-9397-08002B2CF9AE}" pid="5" name="MediaServiceImageTags">
    <vt:lpwstr/>
  </property>
  <property fmtid="{D5CDD505-2E9C-101B-9397-08002B2CF9AE}" pid="6" name="Notes">
    <vt:i4>1</vt:i4>
  </property>
  <property fmtid="{D5CDD505-2E9C-101B-9397-08002B2CF9AE}" pid="7" name="Order">
    <vt:r8>2500</vt:r8>
  </property>
  <property fmtid="{D5CDD505-2E9C-101B-9397-08002B2CF9AE}" pid="8" name="PresentationFormat">
    <vt:lpwstr>Widescreen</vt:lpwstr>
  </property>
  <property fmtid="{D5CDD505-2E9C-101B-9397-08002B2CF9AE}" pid="9" name="SharedWithUsers">
    <vt:lpwstr/>
  </property>
  <property fmtid="{D5CDD505-2E9C-101B-9397-08002B2CF9AE}" pid="10" name="Slides">
    <vt:i4>1</vt:i4>
  </property>
  <property fmtid="{D5CDD505-2E9C-101B-9397-08002B2CF9AE}" pid="11" name="TaxKeyword">
    <vt:lpwstr/>
  </property>
  <property fmtid="{D5CDD505-2E9C-101B-9397-08002B2CF9AE}" pid="12" name="TemplateUrl">
    <vt:lpwstr/>
  </property>
  <property fmtid="{D5CDD505-2E9C-101B-9397-08002B2CF9AE}" pid="13" name="_ExtendedDescription">
    <vt:lpwstr/>
  </property>
  <property fmtid="{D5CDD505-2E9C-101B-9397-08002B2CF9AE}" pid="14" name="_NewReviewCycle">
    <vt:lpwstr/>
  </property>
  <property fmtid="{D5CDD505-2E9C-101B-9397-08002B2CF9AE}" pid="15" name="_ShortcutSiteId">
    <vt:lpwstr/>
  </property>
  <property fmtid="{D5CDD505-2E9C-101B-9397-08002B2CF9AE}" pid="16" name="_ShortcutUniqueId">
    <vt:lpwstr/>
  </property>
  <property fmtid="{D5CDD505-2E9C-101B-9397-08002B2CF9AE}" pid="17" name="_ShortcutUrl">
    <vt:lpwstr/>
  </property>
  <property fmtid="{D5CDD505-2E9C-101B-9397-08002B2CF9AE}" pid="18" name="_ShortcutWebId">
    <vt:lpwstr/>
  </property>
  <property fmtid="{D5CDD505-2E9C-101B-9397-08002B2CF9AE}" pid="19" name="xd_ProgID">
    <vt:lpwstr/>
  </property>
  <property fmtid="{D5CDD505-2E9C-101B-9397-08002B2CF9AE}" pid="20" name="xd_Signature">
    <vt:bool>0</vt:bool>
  </property>
</Properties>
</file>