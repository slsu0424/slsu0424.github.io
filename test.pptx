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719_DF284560.xml" ContentType="application/vnd.ms-powerpoint.comments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4" r:id="rId4"/>
  </p:sldMasterIdLst>
  <p:notesMasterIdLst>
    <p:notesMasterId r:id="rId6"/>
  </p:notesMasterIdLst>
  <p:sldIdLst>
    <p:sldId id="181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1B9985E-3553-4F38-A6C4-BAC000E0E7C6}">
          <p14:sldIdLst>
            <p14:sldId id="1817"/>
          </p14:sldIdLst>
        </p14:section>
        <p14:section name="Ref" id="{2B2F025F-6F37-4223-ADEC-DD7AD0E8A989}">
          <p14:sldIdLst/>
        </p14:section>
        <p14:section name="Appendix" id="{8C16EADC-5443-4C04-B6B7-44D0BFF5C3B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2FB407-F734-C2D5-7ABA-B731D3DCF587}" name="Yuhas, Kate [USA]" initials="YK[" userId="S::551990@bah.com::64ab9f46-6c72-4e1f-b3da-ededcefda2a2" providerId="AD"/>
  <p188:author id="{61B31F1D-CC86-8D62-6B70-BCD76FE9D743}" name="Robinson, Jeffrey [USA]" initials="" userId="S::589142@bah.com::f8b9bb4f-252e-412a-a807-e9782adfca41" providerId="AD"/>
  <p188:author id="{6DE3A527-C733-34BC-7A23-32DCBDC8EC49}" name="Kingshott, Daniel (Element Solutions)" initials="" userId="S::853361@bah.com::6ec5d866-ea93-4290-a599-55c0a8dab8d8" providerId="AD"/>
  <p188:author id="{EF3B9A29-6D90-4011-FE65-547F1FCB3EBC}" name="Caccese, Nick [USA]" initials="CN" userId="S::580248@bah.com::ee363bb9-9e25-4daa-9564-17995d0213ec" providerId="AD"/>
  <p188:author id="{9AA79D55-E80E-093B-DA67-0DA80AC66100}" name="Caccese, Nick [USA]" initials="C[" userId="S::580248@bah.com::6c364d74-8ac5-4456-b6fc-f5e1f1d271c5" providerId="AD"/>
  <p188:author id="{D027735A-B4BA-9B08-20DD-4464A6A6B1DA}" name="Usher, Dan [USA]" initials="UD" userId="S::519623@bah.com::86803285-4f10-436a-9117-5b7e77bec9cb" providerId="AD"/>
  <p188:author id="{3D878073-F01F-8AED-6F05-B1A40302C2E1}" name="Dietrich, Ross [USA]" initials="D[" userId="S::618067@bah.com::da67a861-5db0-48a0-8f6c-f033252f5879" providerId="AD"/>
  <p188:author id="{08E22F78-EA8B-9755-44F4-41F7C0E1DB11}" name="Kopack, Justyn [USA]" initials="JK" userId="S::589112@bah.com::2a2f3317-5e36-4253-aa79-34c27ffc86f3" providerId="AD"/>
  <p188:author id="{84FED080-0CF9-48DE-A666-36B66AEC04FE}" name="Saquib, Mohd [USA]" initials="" userId="S::614773@bah.com::f556d03d-0a08-4a58-8e50-e585ef0ec02d" providerId="AD"/>
  <p188:author id="{EC067981-D870-818C-2B60-3E48AADEAADA}" name="Venkatasamy, Ramchand (Element Solutions)" initials="VS" userId="S::850486@bah.com::f04c0a09-3c3f-408c-bb7d-80b1a9844b1c" providerId="AD"/>
  <p188:author id="{8D42229D-BE53-693B-BDFF-84C00CF4B820}" name="Usher, Daniel [USA]" initials="U[" userId="S::519623@bah.com::6b0f077b-2c2a-462c-99e4-f64d921da5cb" providerId="AD"/>
  <p188:author id="{79F590A5-03A7-C8D1-E268-60509D7481C9}" name="Su, Sandy (Blu Omega)" initials="SO" userId="S::855323@bah.com::9615b814-edd3-41b3-8847-765fbb0e9efb" providerId="AD"/>
  <p188:author id="{9C4444BA-5231-0112-011A-27B87FA51EB6}" name="Andrews, Angela [USA]" initials="" userId="S::643381@bah.com::77d44dfa-4788-4327-8dfe-386fad3847be" providerId="AD"/>
  <p188:author id="{E8A9BBD9-FDE5-6A49-4310-89F71D884CFE}" name="Bruszewski, Patrick [USA]" initials="BP" userId="S::642320@bah.com::b105bf6a-e68c-479a-8105-bc5f0a046915" providerId="AD"/>
  <p188:author id="{82ED44DD-3FB5-5692-DC57-9C2112EF62C4}" name="Miller, Allyson [USA]" initials="MA[" userId="S::550619@bah.com::e0be079e-27a8-4b36-9e39-fe456debdb3c" providerId="AD"/>
  <p188:author id="{75497FE2-31A9-D2A2-9343-877550EF33A5}" name="Geyer, Reid [USA]" initials="G[" userId="S::606949@bah.com::af0fe45f-3d6b-4f56-8af4-a9f28e4a4848" providerId="AD"/>
  <p188:author id="{09094DF0-C45E-0DA9-01A2-E1A780701231}" name="Kopack, Justyn [USA]" initials="KJ[" userId="S::589112@bah.com::d0e6e06b-f0d8-4ca5-966c-36b162853db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8F8D"/>
    <a:srgbClr val="008078"/>
    <a:srgbClr val="008081"/>
    <a:srgbClr val="008080"/>
    <a:srgbClr val="008079"/>
    <a:srgbClr val="0049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6C4059-3F78-D385-DCDC-AE8A77257202}" v="1995" dt="2026-07-17T15:03:45.695"/>
    <p1510:client id="{A1B8576A-CD5A-8B76-2249-AE312A37E28D}" v="1583" dt="2026-07-17T16:39:44.217"/>
    <p1510:client id="{AB6CC077-F5FC-6A7C-7DF8-7C4DE1CCF8C8}" v="503" dt="2026-07-16T14:21:08.084"/>
    <p1510:client id="{D4CD72C2-241B-552C-6087-35C55C497321}" v="4510" dt="2026-07-16T21:13:15.0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30"/>
  </p:normalViewPr>
  <p:slideViewPr>
    <p:cSldViewPr snapToGrid="0">
      <p:cViewPr varScale="1">
        <p:scale>
          <a:sx n="95" d="100"/>
          <a:sy n="95" d="100"/>
        </p:scale>
        <p:origin x="200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8/10/relationships/authors" Target="author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omments/modernComment_719_DF28456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E138DA4-8CA3-47B7-92F8-B13FD86F165D}" authorId="{79F590A5-03A7-C8D1-E268-60509D7481C9}" created="2026-07-16T21:28:51.695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743958368" sldId="1817"/>
      <ac:spMk id="136" creationId="{B799AD42-FC68-413E-3D7F-D16151DB36BA}"/>
      <ac:txMk cp="0" len="43">
        <ac:context len="236" hash="4007217220"/>
      </ac:txMk>
    </ac:txMkLst>
    <p188:pos x="761999" y="832555"/>
    <p188:txBody>
      <a:bodyPr/>
      <a:lstStyle/>
      <a:p>
        <a:r>
          <a:rPr lang="en-US"/>
          <a:t>Will the audience care about other models that were tested?</a:t>
        </a:r>
      </a:p>
    </p188:txBody>
  </p188:cm>
  <p188:cm id="{617ACE8D-3C31-4A60-B652-627EF45F4A6B}" authorId="{79F590A5-03A7-C8D1-E268-60509D7481C9}" created="2026-07-17T14:59:00.574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743958368" sldId="1817"/>
      <ac:spMk id="137" creationId="{84A3FEE7-4693-F2B1-B5F5-7D9813396818}"/>
      <ac:txMk cp="0" len="74">
        <ac:context len="280" hash="1447645197"/>
      </ac:txMk>
    </ac:txMkLst>
    <p188:pos x="2530928" y="381000"/>
    <p188:txBody>
      <a:bodyPr/>
      <a:lstStyle/>
      <a:p>
        <a:r>
          <a:rPr lang="en-US"/>
          <a:t>Should I specify abstraction, orchestration?</a:t>
        </a:r>
      </a:p>
    </p188:txBody>
  </p188:cm>
  <p188:cm id="{CE06486C-A647-43D8-8DEF-D6ED3F1EA207}" authorId="{79F590A5-03A7-C8D1-E268-60509D7481C9}" created="2026-07-17T15:04:26.105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743958368" sldId="1817"/>
      <ac:spMk id="4" creationId="{4ECEF190-9E22-F949-D417-3BB057B11393}"/>
      <ac:txMk cp="0" len="6">
        <ac:context len="7" hash="438989710"/>
      </ac:txMk>
    </ac:txMkLst>
    <p188:pos x="656166" y="253999"/>
    <p188:txBody>
      <a:bodyPr/>
      <a:lstStyle/>
      <a:p>
        <a:r>
          <a:rPr lang="en-US"/>
          <a:t>Assessment is based on ADO's responses and MSI's recommendations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FE59CE-8151-5948-ACC6-FFE315EC403B}" type="datetimeFigureOut">
              <a:rPr lang="en-US" smtClean="0"/>
              <a:t>7/17/26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2F4037-46CC-6045-BE7A-CA09502B48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0394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>
              <a:spcBef>
                <a:spcPts val="601"/>
              </a:spcBef>
            </a:pPr>
            <a:r>
              <a:rPr lang="en-GB" b="1">
                <a:solidFill>
                  <a:schemeClr val="lt1"/>
                </a:solidFill>
              </a:rPr>
              <a:t>Testing</a:t>
            </a:r>
            <a:endParaRPr lang="en-US"/>
          </a:p>
          <a:p>
            <a:pPr algn="ctr">
              <a:spcBef>
                <a:spcPts val="601"/>
              </a:spcBef>
            </a:pPr>
            <a:r>
              <a:rPr lang="en-GB">
                <a:solidFill>
                  <a:schemeClr val="bg1"/>
                </a:solidFill>
              </a:rPr>
              <a:t>Using request/response pairs to test accuracy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2F4037-46CC-6045-BE7A-CA09502B483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1139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hoto collage about healthcare">
            <a:extLst>
              <a:ext uri="{FF2B5EF4-FFF2-40B4-BE49-F238E27FC236}">
                <a16:creationId xmlns:a16="http://schemas.microsoft.com/office/drawing/2014/main" id="{E3576553-BBD0-154A-AB41-9A5F80DD0B8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8875059" cy="633152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81400" y="3231710"/>
            <a:ext cx="8160327" cy="2130752"/>
          </a:xfrm>
        </p:spPr>
        <p:txBody>
          <a:bodyPr anchor="b"/>
          <a:lstStyle>
            <a:lvl1pPr algn="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9164" y="5546612"/>
            <a:ext cx="8042564" cy="625588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5" name="Picture 4" descr="Centers for Medicare &amp; Medicaid Services">
            <a:extLst>
              <a:ext uri="{FF2B5EF4-FFF2-40B4-BE49-F238E27FC236}">
                <a16:creationId xmlns:a16="http://schemas.microsoft.com/office/drawing/2014/main" id="{081844A0-5705-914F-B0E4-461FA97870A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89717" y="2223669"/>
            <a:ext cx="2864083" cy="990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372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8225" y="526489"/>
            <a:ext cx="10315575" cy="97684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B5401F5-91F6-3841-B5AD-CBF879E180F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038225" y="1921790"/>
            <a:ext cx="6509450" cy="415357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Picture Placeholder 7" descr="Placeholder for photo">
            <a:extLst>
              <a:ext uri="{FF2B5EF4-FFF2-40B4-BE49-F238E27FC236}">
                <a16:creationId xmlns:a16="http://schemas.microsoft.com/office/drawing/2014/main" id="{13AF3436-DC6B-4D48-805F-AB66D9F0040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27988" y="1922463"/>
            <a:ext cx="3325812" cy="415290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/>
              <a:t>Picture</a:t>
            </a:r>
          </a:p>
          <a:p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0AC1F5C-300D-CB41-9681-995AAF1DF57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July 31, 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7F8C83F3-E5D7-0E44-B6FA-B627613B57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December 23, 2025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10889672" y="6356350"/>
            <a:ext cx="464127" cy="365125"/>
          </a:xfrm>
          <a:prstGeom prst="rect">
            <a:avLst/>
          </a:prstGeom>
        </p:spPr>
        <p:txBody>
          <a:bodyPr/>
          <a:lstStyle/>
          <a:p>
            <a:fld id="{FC4ACFE8-D096-2541-B423-85B6908FFA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9636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8225" y="526489"/>
            <a:ext cx="10315575" cy="97684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B5401F5-91F6-3841-B5AD-CBF879E180F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038225" y="1921790"/>
            <a:ext cx="10315574" cy="415357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79A9E9F4-F35E-2B5C-2B50-E1C5CCC24CBE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July 31, 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AD10530F-CA62-5524-78D4-40B8B04BF75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December 23, 2025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AD86B21-14CD-222B-3875-11260D97BC6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B65DABB5-7CF1-3740-B6EB-81AABE2E77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713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48ABCFF7-F953-D641-B622-0F57898BA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31,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EF920C29-A692-8744-8CDA-7567DF0DC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December 23, 2025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8B7F44ED-2F7A-884B-9395-39D6BB4EE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DABB5-7CF1-3740-B6EB-81AABE2E77C4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2A11D1-1F7B-924C-8DFD-5C76418AF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3421" y="2542262"/>
            <a:ext cx="10515600" cy="112947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721428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09715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D25D4AA-D67E-1A41-AF55-6DED75ADEC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56350"/>
            <a:ext cx="12192000" cy="516640"/>
          </a:xfrm>
          <a:prstGeom prst="rect">
            <a:avLst/>
          </a:prstGeom>
          <a:solidFill>
            <a:srgbClr val="0049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296367"/>
            <a:ext cx="10515600" cy="1129477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90D607-4AB5-FC4F-9ADF-2B066ADE31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B22936-5D74-8D49-B8CD-862150C3E8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July 31,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F951F7-2D52-3342-A67A-45243089A8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December 23,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2AE25D-345B-D849-B61C-64FB894A40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5DABB5-7CF1-3740-B6EB-81AABE2E77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245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70" r:id="rId2"/>
    <p:sldLayoutId id="2147483695" r:id="rId3"/>
    <p:sldLayoutId id="2147483693" r:id="rId4"/>
    <p:sldLayoutId id="2147483696" r:id="rId5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1" i="0" kern="1200">
          <a:solidFill>
            <a:srgbClr val="004986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microsoft.com/office/2018/10/relationships/comments" Target="../comments/modernComment_719_DF284560.xml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2C63E-5BB1-FE00-D6A2-3AE18A575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Rectangle: Rounded Corners 10">
            <a:extLst>
              <a:ext uri="{FF2B5EF4-FFF2-40B4-BE49-F238E27FC236}">
                <a16:creationId xmlns:a16="http://schemas.microsoft.com/office/drawing/2014/main" id="{A7FB5BBE-67C8-0D20-5951-BB1A7E9A8B0D}"/>
              </a:ext>
            </a:extLst>
          </p:cNvPr>
          <p:cNvSpPr/>
          <p:nvPr/>
        </p:nvSpPr>
        <p:spPr>
          <a:xfrm>
            <a:off x="3659687" y="1501255"/>
            <a:ext cx="3847680" cy="2488680"/>
          </a:xfrm>
          <a:prstGeom prst="roundRect">
            <a:avLst>
              <a:gd name="adj" fmla="val 3912"/>
            </a:avLst>
          </a:prstGeom>
          <a:solidFill>
            <a:schemeClr val="bg1"/>
          </a:solidFill>
          <a:ln>
            <a:noFill/>
          </a:ln>
          <a:effectLst>
            <a:outerShdw blurRad="152280" sx="102000" sy="102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97" name="Rectangle: Rounded Corners 11">
            <a:extLst>
              <a:ext uri="{FF2B5EF4-FFF2-40B4-BE49-F238E27FC236}">
                <a16:creationId xmlns:a16="http://schemas.microsoft.com/office/drawing/2014/main" id="{66EE6C28-07DE-DE25-D3EB-888761F2342E}"/>
              </a:ext>
            </a:extLst>
          </p:cNvPr>
          <p:cNvSpPr/>
          <p:nvPr/>
        </p:nvSpPr>
        <p:spPr>
          <a:xfrm>
            <a:off x="7810847" y="1501255"/>
            <a:ext cx="3847680" cy="2488680"/>
          </a:xfrm>
          <a:prstGeom prst="roundRect">
            <a:avLst>
              <a:gd name="adj" fmla="val 3912"/>
            </a:avLst>
          </a:prstGeom>
          <a:solidFill>
            <a:schemeClr val="bg1"/>
          </a:solidFill>
          <a:ln>
            <a:noFill/>
          </a:ln>
          <a:effectLst>
            <a:outerShdw blurRad="152280" sx="102000" sy="102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98" name="Rectangle: Rounded Corners 12">
            <a:extLst>
              <a:ext uri="{FF2B5EF4-FFF2-40B4-BE49-F238E27FC236}">
                <a16:creationId xmlns:a16="http://schemas.microsoft.com/office/drawing/2014/main" id="{4630EF5F-526C-4FCB-493D-4E063EDC8000}"/>
              </a:ext>
            </a:extLst>
          </p:cNvPr>
          <p:cNvSpPr/>
          <p:nvPr/>
        </p:nvSpPr>
        <p:spPr>
          <a:xfrm>
            <a:off x="3659687" y="4170295"/>
            <a:ext cx="8115120" cy="2010600"/>
          </a:xfrm>
          <a:prstGeom prst="roundRect">
            <a:avLst>
              <a:gd name="adj" fmla="val 5931"/>
            </a:avLst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00" name="Rectangle 3">
            <a:extLst>
              <a:ext uri="{FF2B5EF4-FFF2-40B4-BE49-F238E27FC236}">
                <a16:creationId xmlns:a16="http://schemas.microsoft.com/office/drawing/2014/main" id="{287C3F44-A999-A618-14FA-DA7645D130B5}"/>
              </a:ext>
            </a:extLst>
          </p:cNvPr>
          <p:cNvSpPr/>
          <p:nvPr/>
        </p:nvSpPr>
        <p:spPr>
          <a:xfrm>
            <a:off x="0" y="1470837"/>
            <a:ext cx="3216960" cy="10314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02" name="TextBox 69">
            <a:extLst>
              <a:ext uri="{FF2B5EF4-FFF2-40B4-BE49-F238E27FC236}">
                <a16:creationId xmlns:a16="http://schemas.microsoft.com/office/drawing/2014/main" id="{73DC99A5-B4F8-B0A2-E6E9-DE651D8BDAEE}"/>
              </a:ext>
            </a:extLst>
          </p:cNvPr>
          <p:cNvSpPr/>
          <p:nvPr/>
        </p:nvSpPr>
        <p:spPr>
          <a:xfrm>
            <a:off x="532080" y="1694397"/>
            <a:ext cx="2152440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/>
            <a:r>
              <a:rPr lang="en-GB" sz="1600" b="1">
                <a:solidFill>
                  <a:schemeClr val="lt1"/>
                </a:solidFill>
                <a:latin typeface="Segoe UI"/>
              </a:rPr>
              <a:t>Business </a:t>
            </a:r>
            <a:br>
              <a:rPr lang="en-GB" sz="1600" b="1">
                <a:latin typeface="Segoe UI"/>
              </a:rPr>
            </a:br>
            <a:r>
              <a:rPr lang="en-GB" sz="1600" b="1">
                <a:solidFill>
                  <a:schemeClr val="lt1"/>
                </a:solidFill>
                <a:latin typeface="Segoe UI"/>
                <a:cs typeface="Segoe UI"/>
              </a:rPr>
              <a:t>Snapshot</a:t>
            </a:r>
            <a:endParaRPr lang="en-GB" sz="1600" b="1" u="none" strike="noStrike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</p:txBody>
      </p:sp>
      <p:sp>
        <p:nvSpPr>
          <p:cNvPr id="103" name="Flowchart: Connector 40">
            <a:extLst>
              <a:ext uri="{FF2B5EF4-FFF2-40B4-BE49-F238E27FC236}">
                <a16:creationId xmlns:a16="http://schemas.microsoft.com/office/drawing/2014/main" id="{B2FA058C-A12B-8021-5ADA-82E6B9258AEF}"/>
              </a:ext>
            </a:extLst>
          </p:cNvPr>
          <p:cNvSpPr/>
          <p:nvPr/>
        </p:nvSpPr>
        <p:spPr>
          <a:xfrm>
            <a:off x="179640" y="2580458"/>
            <a:ext cx="329040" cy="329040"/>
          </a:xfrm>
          <a:prstGeom prst="flowChartConnector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04" name="Flowchart: Connector 41">
            <a:extLst>
              <a:ext uri="{FF2B5EF4-FFF2-40B4-BE49-F238E27FC236}">
                <a16:creationId xmlns:a16="http://schemas.microsoft.com/office/drawing/2014/main" id="{0EE6D7F9-58FF-391D-7938-0FB1251FFE8B}"/>
              </a:ext>
            </a:extLst>
          </p:cNvPr>
          <p:cNvSpPr/>
          <p:nvPr/>
        </p:nvSpPr>
        <p:spPr>
          <a:xfrm>
            <a:off x="179640" y="3005618"/>
            <a:ext cx="329040" cy="329040"/>
          </a:xfrm>
          <a:prstGeom prst="flowChartConnector">
            <a:avLst/>
          </a:prstGeom>
          <a:solidFill>
            <a:srgbClr val="0D8F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05" name="Flowchart: Connector 42">
            <a:extLst>
              <a:ext uri="{FF2B5EF4-FFF2-40B4-BE49-F238E27FC236}">
                <a16:creationId xmlns:a16="http://schemas.microsoft.com/office/drawing/2014/main" id="{F455A523-8387-860E-2479-EE7AC21365CE}"/>
              </a:ext>
            </a:extLst>
          </p:cNvPr>
          <p:cNvSpPr/>
          <p:nvPr/>
        </p:nvSpPr>
        <p:spPr>
          <a:xfrm>
            <a:off x="179640" y="3898403"/>
            <a:ext cx="329040" cy="329040"/>
          </a:xfrm>
          <a:prstGeom prst="flowChartConnector">
            <a:avLst/>
          </a:prstGeom>
          <a:solidFill>
            <a:srgbClr val="0D8F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06" name="Flowchart: Connector 43">
            <a:extLst>
              <a:ext uri="{FF2B5EF4-FFF2-40B4-BE49-F238E27FC236}">
                <a16:creationId xmlns:a16="http://schemas.microsoft.com/office/drawing/2014/main" id="{A4E983FB-B333-CF28-65AF-E807CB0871C7}"/>
              </a:ext>
            </a:extLst>
          </p:cNvPr>
          <p:cNvSpPr/>
          <p:nvPr/>
        </p:nvSpPr>
        <p:spPr>
          <a:xfrm>
            <a:off x="179640" y="4337530"/>
            <a:ext cx="329040" cy="329040"/>
          </a:xfrm>
          <a:prstGeom prst="flowChartConnector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08" name="Flowchart: Connector 45">
            <a:extLst>
              <a:ext uri="{FF2B5EF4-FFF2-40B4-BE49-F238E27FC236}">
                <a16:creationId xmlns:a16="http://schemas.microsoft.com/office/drawing/2014/main" id="{735F660D-39B2-A9DF-BDB8-630EBE5375D6}"/>
              </a:ext>
            </a:extLst>
          </p:cNvPr>
          <p:cNvSpPr/>
          <p:nvPr/>
        </p:nvSpPr>
        <p:spPr>
          <a:xfrm>
            <a:off x="179640" y="3453998"/>
            <a:ext cx="329040" cy="329040"/>
          </a:xfrm>
          <a:prstGeom prst="flowChartConnector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09" name="Flowchart: Connector 46">
            <a:extLst>
              <a:ext uri="{FF2B5EF4-FFF2-40B4-BE49-F238E27FC236}">
                <a16:creationId xmlns:a16="http://schemas.microsoft.com/office/drawing/2014/main" id="{6D642643-95C8-98D4-6BEB-DAE9CFDE8610}"/>
              </a:ext>
            </a:extLst>
          </p:cNvPr>
          <p:cNvSpPr/>
          <p:nvPr/>
        </p:nvSpPr>
        <p:spPr>
          <a:xfrm>
            <a:off x="3962807" y="1603135"/>
            <a:ext cx="510840" cy="512280"/>
          </a:xfrm>
          <a:prstGeom prst="flowChartConnector">
            <a:avLst/>
          </a:prstGeom>
          <a:solidFill>
            <a:srgbClr val="0D8F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10" name="Flowchart: Connector 47">
            <a:extLst>
              <a:ext uri="{FF2B5EF4-FFF2-40B4-BE49-F238E27FC236}">
                <a16:creationId xmlns:a16="http://schemas.microsoft.com/office/drawing/2014/main" id="{A90546D5-DDA9-4157-5CC5-4D66B16E546D}"/>
              </a:ext>
            </a:extLst>
          </p:cNvPr>
          <p:cNvSpPr/>
          <p:nvPr/>
        </p:nvSpPr>
        <p:spPr>
          <a:xfrm>
            <a:off x="7926047" y="1603135"/>
            <a:ext cx="510840" cy="512280"/>
          </a:xfrm>
          <a:prstGeom prst="flowChartConnector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11" name="Flowchart: Connector 48">
            <a:extLst>
              <a:ext uri="{FF2B5EF4-FFF2-40B4-BE49-F238E27FC236}">
                <a16:creationId xmlns:a16="http://schemas.microsoft.com/office/drawing/2014/main" id="{39D951F2-E4A9-04D0-3652-D64E08131776}"/>
              </a:ext>
            </a:extLst>
          </p:cNvPr>
          <p:cNvSpPr/>
          <p:nvPr/>
        </p:nvSpPr>
        <p:spPr>
          <a:xfrm>
            <a:off x="4380047" y="4620655"/>
            <a:ext cx="583200" cy="583200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12" name="Flowchart: Connector 49">
            <a:extLst>
              <a:ext uri="{FF2B5EF4-FFF2-40B4-BE49-F238E27FC236}">
                <a16:creationId xmlns:a16="http://schemas.microsoft.com/office/drawing/2014/main" id="{797D2A16-9B76-7E70-AEBC-B8F758CC114E}"/>
              </a:ext>
            </a:extLst>
          </p:cNvPr>
          <p:cNvSpPr/>
          <p:nvPr/>
        </p:nvSpPr>
        <p:spPr>
          <a:xfrm>
            <a:off x="6369767" y="4620655"/>
            <a:ext cx="583200" cy="583200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13" name="Flowchart: Connector 50">
            <a:extLst>
              <a:ext uri="{FF2B5EF4-FFF2-40B4-BE49-F238E27FC236}">
                <a16:creationId xmlns:a16="http://schemas.microsoft.com/office/drawing/2014/main" id="{E056A090-7C54-850E-238C-3CBF75D37576}"/>
              </a:ext>
            </a:extLst>
          </p:cNvPr>
          <p:cNvSpPr/>
          <p:nvPr/>
        </p:nvSpPr>
        <p:spPr>
          <a:xfrm>
            <a:off x="8320247" y="4620655"/>
            <a:ext cx="583200" cy="583200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14" name="Flowchart: Connector 51">
            <a:extLst>
              <a:ext uri="{FF2B5EF4-FFF2-40B4-BE49-F238E27FC236}">
                <a16:creationId xmlns:a16="http://schemas.microsoft.com/office/drawing/2014/main" id="{10175695-634D-A486-6CED-4FB73BE78F86}"/>
              </a:ext>
            </a:extLst>
          </p:cNvPr>
          <p:cNvSpPr/>
          <p:nvPr/>
        </p:nvSpPr>
        <p:spPr>
          <a:xfrm>
            <a:off x="10347407" y="4620655"/>
            <a:ext cx="583200" cy="583200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20" name="TextBox 70">
            <a:extLst>
              <a:ext uri="{FF2B5EF4-FFF2-40B4-BE49-F238E27FC236}">
                <a16:creationId xmlns:a16="http://schemas.microsoft.com/office/drawing/2014/main" id="{09D0C5FA-A1D6-6D5B-4B02-44E96ACCE9B7}"/>
              </a:ext>
            </a:extLst>
          </p:cNvPr>
          <p:cNvSpPr/>
          <p:nvPr/>
        </p:nvSpPr>
        <p:spPr>
          <a:xfrm>
            <a:off x="528840" y="2606378"/>
            <a:ext cx="277776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IN" sz="12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Approver</a:t>
            </a:r>
            <a:r>
              <a:rPr lang="en-IN" sz="1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:</a:t>
            </a:r>
            <a:r>
              <a:rPr lang="en-IN" sz="1200">
                <a:solidFill>
                  <a:schemeClr val="dk1"/>
                </a:solidFill>
                <a:latin typeface="Segoe UI"/>
              </a:rPr>
              <a:t>       CMS business group</a:t>
            </a:r>
            <a:br>
              <a:rPr lang="en-IN" sz="1200" dirty="0">
                <a:latin typeface="Segoe UI"/>
              </a:rPr>
            </a:b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71">
            <a:extLst>
              <a:ext uri="{FF2B5EF4-FFF2-40B4-BE49-F238E27FC236}">
                <a16:creationId xmlns:a16="http://schemas.microsoft.com/office/drawing/2014/main" id="{402097F5-3B88-D7E5-567B-E59AF6912A4B}"/>
              </a:ext>
            </a:extLst>
          </p:cNvPr>
          <p:cNvSpPr/>
          <p:nvPr/>
        </p:nvSpPr>
        <p:spPr>
          <a:xfrm>
            <a:off x="528840" y="3031898"/>
            <a:ext cx="270288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IN" sz="12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Cost</a:t>
            </a:r>
            <a:r>
              <a:rPr lang="en-IN" sz="1200" b="1" dirty="0">
                <a:solidFill>
                  <a:schemeClr val="dk1"/>
                </a:solidFill>
                <a:latin typeface="Segoe UI"/>
              </a:rPr>
              <a:t> impact</a:t>
            </a:r>
            <a:r>
              <a:rPr lang="en-IN" sz="120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:</a:t>
            </a:r>
            <a:r>
              <a:rPr lang="en-IN" sz="1200">
                <a:solidFill>
                  <a:schemeClr val="dk1"/>
                </a:solidFill>
                <a:latin typeface="Segoe UI"/>
              </a:rPr>
              <a:t>  Small ($)</a:t>
            </a:r>
            <a:endParaRPr lang="en-IN" sz="1200" u="none" strike="noStrike">
              <a:solidFill>
                <a:schemeClr val="dk1"/>
              </a:solidFill>
              <a:effectLst/>
              <a:uFillTx/>
              <a:latin typeface="Segoe UI"/>
              <a:cs typeface="Segoe UI"/>
            </a:endParaRPr>
          </a:p>
        </p:txBody>
      </p:sp>
      <p:sp>
        <p:nvSpPr>
          <p:cNvPr id="122" name="TextBox 72">
            <a:extLst>
              <a:ext uri="{FF2B5EF4-FFF2-40B4-BE49-F238E27FC236}">
                <a16:creationId xmlns:a16="http://schemas.microsoft.com/office/drawing/2014/main" id="{23B5477F-05BA-777F-F68B-C9465C112674}"/>
              </a:ext>
            </a:extLst>
          </p:cNvPr>
          <p:cNvSpPr/>
          <p:nvPr/>
        </p:nvSpPr>
        <p:spPr>
          <a:xfrm>
            <a:off x="528840" y="3924683"/>
            <a:ext cx="270288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GB" sz="1200" b="1" u="none" strike="noStrike" dirty="0">
                <a:solidFill>
                  <a:schemeClr val="dk1"/>
                </a:solidFill>
                <a:effectLst/>
                <a:uFillTx/>
                <a:latin typeface="Segoe UI"/>
              </a:rPr>
              <a:t>Ops Risk</a:t>
            </a: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:</a:t>
            </a:r>
            <a:r>
              <a:rPr lang="en-GB" sz="1200">
                <a:solidFill>
                  <a:schemeClr val="dk1"/>
                </a:solidFill>
                <a:latin typeface="Segoe UI"/>
              </a:rPr>
              <a:t>       None identified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73">
            <a:extLst>
              <a:ext uri="{FF2B5EF4-FFF2-40B4-BE49-F238E27FC236}">
                <a16:creationId xmlns:a16="http://schemas.microsoft.com/office/drawing/2014/main" id="{0E730175-A003-1084-110A-062E81426DC7}"/>
              </a:ext>
            </a:extLst>
          </p:cNvPr>
          <p:cNvSpPr/>
          <p:nvPr/>
        </p:nvSpPr>
        <p:spPr>
          <a:xfrm>
            <a:off x="528840" y="4363810"/>
            <a:ext cx="2702880" cy="275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GB" sz="12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Compliance</a:t>
            </a: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:</a:t>
            </a:r>
            <a:r>
              <a:rPr lang="en-GB" sz="1200">
                <a:solidFill>
                  <a:schemeClr val="dk1"/>
                </a:solidFill>
                <a:latin typeface="Segoe UI"/>
              </a:rPr>
              <a:t> CMS-approved LLMs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75">
            <a:extLst>
              <a:ext uri="{FF2B5EF4-FFF2-40B4-BE49-F238E27FC236}">
                <a16:creationId xmlns:a16="http://schemas.microsoft.com/office/drawing/2014/main" id="{570EDDD8-1B65-21E2-E180-B050957CEA0E}"/>
              </a:ext>
            </a:extLst>
          </p:cNvPr>
          <p:cNvSpPr/>
          <p:nvPr/>
        </p:nvSpPr>
        <p:spPr>
          <a:xfrm>
            <a:off x="528840" y="3479918"/>
            <a:ext cx="2702880" cy="275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GB" sz="1200" b="1">
                <a:solidFill>
                  <a:schemeClr val="dk1"/>
                </a:solidFill>
                <a:latin typeface="Segoe UI"/>
              </a:rPr>
              <a:t>Time impact:</a:t>
            </a:r>
            <a:r>
              <a:rPr lang="en-GB" sz="1200">
                <a:solidFill>
                  <a:schemeClr val="dk1"/>
                </a:solidFill>
                <a:latin typeface="Segoe UI"/>
              </a:rPr>
              <a:t>  Small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Segoe UI"/>
              <a:cs typeface="Segoe UI"/>
            </a:endParaRPr>
          </a:p>
        </p:txBody>
      </p:sp>
      <p:cxnSp>
        <p:nvCxnSpPr>
          <p:cNvPr id="126" name="Straight Connector 44">
            <a:extLst>
              <a:ext uri="{FF2B5EF4-FFF2-40B4-BE49-F238E27FC236}">
                <a16:creationId xmlns:a16="http://schemas.microsoft.com/office/drawing/2014/main" id="{10BF87F9-39AC-B670-308D-85B26E77A714}"/>
              </a:ext>
            </a:extLst>
          </p:cNvPr>
          <p:cNvCxnSpPr/>
          <p:nvPr/>
        </p:nvCxnSpPr>
        <p:spPr>
          <a:xfrm flipH="1">
            <a:off x="4338647" y="4374775"/>
            <a:ext cx="2083680" cy="360"/>
          </a:xfrm>
          <a:prstGeom prst="straightConnector1">
            <a:avLst/>
          </a:prstGeom>
          <a:ln>
            <a:solidFill>
              <a:srgbClr val="FFFFFF"/>
            </a:solidFill>
            <a:headEnd type="oval" w="med" len="med"/>
          </a:ln>
        </p:spPr>
      </p:cxnSp>
      <p:cxnSp>
        <p:nvCxnSpPr>
          <p:cNvPr id="127" name="Straight Connector 46">
            <a:extLst>
              <a:ext uri="{FF2B5EF4-FFF2-40B4-BE49-F238E27FC236}">
                <a16:creationId xmlns:a16="http://schemas.microsoft.com/office/drawing/2014/main" id="{D8DFC354-6F55-6B0F-39FC-2AA32D5AD4F0}"/>
              </a:ext>
            </a:extLst>
          </p:cNvPr>
          <p:cNvCxnSpPr/>
          <p:nvPr/>
        </p:nvCxnSpPr>
        <p:spPr>
          <a:xfrm>
            <a:off x="9012167" y="4374775"/>
            <a:ext cx="2084040" cy="360"/>
          </a:xfrm>
          <a:prstGeom prst="straightConnector1">
            <a:avLst/>
          </a:prstGeom>
          <a:ln>
            <a:solidFill>
              <a:srgbClr val="FFFFFF"/>
            </a:solidFill>
            <a:headEnd type="oval" w="med" len="med"/>
          </a:ln>
        </p:spPr>
      </p:cxnSp>
      <p:sp>
        <p:nvSpPr>
          <p:cNvPr id="128" name="TextBox 76">
            <a:extLst>
              <a:ext uri="{FF2B5EF4-FFF2-40B4-BE49-F238E27FC236}">
                <a16:creationId xmlns:a16="http://schemas.microsoft.com/office/drawing/2014/main" id="{EA7B9028-2713-50CA-DE0D-FF368149283B}"/>
              </a:ext>
            </a:extLst>
          </p:cNvPr>
          <p:cNvSpPr/>
          <p:nvPr/>
        </p:nvSpPr>
        <p:spPr>
          <a:xfrm>
            <a:off x="6576767" y="4221055"/>
            <a:ext cx="2280960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IN" sz="140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Technical </a:t>
            </a:r>
            <a:r>
              <a:rPr lang="en-IN" sz="1400" b="1">
                <a:solidFill>
                  <a:schemeClr val="lt1"/>
                </a:solidFill>
                <a:latin typeface="Segoe UI"/>
              </a:rPr>
              <a:t>Readiness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9" name="Straight Connector 47">
            <a:extLst>
              <a:ext uri="{FF2B5EF4-FFF2-40B4-BE49-F238E27FC236}">
                <a16:creationId xmlns:a16="http://schemas.microsoft.com/office/drawing/2014/main" id="{8A35B17A-A69A-332F-EEE7-D323EEBFDE7D}"/>
              </a:ext>
            </a:extLst>
          </p:cNvPr>
          <p:cNvCxnSpPr/>
          <p:nvPr/>
        </p:nvCxnSpPr>
        <p:spPr>
          <a:xfrm flipV="1">
            <a:off x="5590007" y="4654135"/>
            <a:ext cx="360" cy="1300320"/>
          </a:xfrm>
          <a:prstGeom prst="straightConnector1">
            <a:avLst/>
          </a:prstGeom>
          <a:ln>
            <a:solidFill>
              <a:srgbClr val="FFFFFF"/>
            </a:solidFill>
          </a:ln>
        </p:spPr>
      </p:cxnSp>
      <p:cxnSp>
        <p:nvCxnSpPr>
          <p:cNvPr id="130" name="Straight Connector 49">
            <a:extLst>
              <a:ext uri="{FF2B5EF4-FFF2-40B4-BE49-F238E27FC236}">
                <a16:creationId xmlns:a16="http://schemas.microsoft.com/office/drawing/2014/main" id="{1198648E-A97A-3EAD-455B-7D2D53AFA0C5}"/>
              </a:ext>
            </a:extLst>
          </p:cNvPr>
          <p:cNvCxnSpPr/>
          <p:nvPr/>
        </p:nvCxnSpPr>
        <p:spPr>
          <a:xfrm flipV="1">
            <a:off x="7717247" y="4654135"/>
            <a:ext cx="360" cy="1300320"/>
          </a:xfrm>
          <a:prstGeom prst="straightConnector1">
            <a:avLst/>
          </a:prstGeom>
          <a:ln>
            <a:solidFill>
              <a:srgbClr val="FFFFFF"/>
            </a:solidFill>
          </a:ln>
        </p:spPr>
      </p:cxnSp>
      <p:cxnSp>
        <p:nvCxnSpPr>
          <p:cNvPr id="131" name="Straight Connector 50">
            <a:extLst>
              <a:ext uri="{FF2B5EF4-FFF2-40B4-BE49-F238E27FC236}">
                <a16:creationId xmlns:a16="http://schemas.microsoft.com/office/drawing/2014/main" id="{B6A45CAF-4303-3496-75B9-B654C7CA457A}"/>
              </a:ext>
            </a:extLst>
          </p:cNvPr>
          <p:cNvCxnSpPr/>
          <p:nvPr/>
        </p:nvCxnSpPr>
        <p:spPr>
          <a:xfrm flipV="1">
            <a:off x="9519047" y="4654135"/>
            <a:ext cx="360" cy="1300320"/>
          </a:xfrm>
          <a:prstGeom prst="straightConnector1">
            <a:avLst/>
          </a:prstGeom>
          <a:ln>
            <a:solidFill>
              <a:srgbClr val="FFFFFF"/>
            </a:solidFill>
          </a:ln>
        </p:spPr>
      </p:cxnSp>
      <p:sp>
        <p:nvSpPr>
          <p:cNvPr id="132" name="TextBox 77">
            <a:extLst>
              <a:ext uri="{FF2B5EF4-FFF2-40B4-BE49-F238E27FC236}">
                <a16:creationId xmlns:a16="http://schemas.microsoft.com/office/drawing/2014/main" id="{04B98409-2D07-0E53-51D8-380DF32F0937}"/>
              </a:ext>
            </a:extLst>
          </p:cNvPr>
          <p:cNvSpPr/>
          <p:nvPr/>
        </p:nvSpPr>
        <p:spPr>
          <a:xfrm>
            <a:off x="3774167" y="5245975"/>
            <a:ext cx="1794960" cy="102959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spcBef>
                <a:spcPts val="601"/>
              </a:spcBef>
            </a:pPr>
            <a:r>
              <a:rPr lang="en-IN" sz="1200" b="1">
                <a:solidFill>
                  <a:schemeClr val="lt1"/>
                </a:solidFill>
                <a:latin typeface="Segoe UI"/>
                <a:cs typeface="Segoe UI"/>
              </a:rPr>
              <a:t>Architecture</a:t>
            </a:r>
            <a:endParaRPr lang="en-IN" sz="1200" b="1" u="none" strike="noStrike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  <a:p>
            <a:pPr algn="ctr">
              <a:spcBef>
                <a:spcPts val="601"/>
              </a:spcBef>
            </a:pPr>
            <a:r>
              <a:rPr lang="en-IN" sz="1100">
                <a:solidFill>
                  <a:schemeClr val="lt1"/>
                </a:solidFill>
                <a:latin typeface="Segoe UI"/>
              </a:rPr>
              <a:t>Salesforce, AWS Lambda, Bedrock (LLMs, Knowledge Base)</a:t>
            </a:r>
            <a:br>
              <a:rPr lang="en-IN" sz="1100">
                <a:latin typeface="Segoe UI"/>
              </a:rPr>
            </a:br>
            <a:endParaRPr lang="en-IN" sz="1100" b="0" u="none" strike="noStrike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</p:txBody>
      </p:sp>
      <p:sp>
        <p:nvSpPr>
          <p:cNvPr id="133" name="TextBox 78">
            <a:extLst>
              <a:ext uri="{FF2B5EF4-FFF2-40B4-BE49-F238E27FC236}">
                <a16:creationId xmlns:a16="http://schemas.microsoft.com/office/drawing/2014/main" id="{5A56885E-7879-4497-D505-709CFA18AF96}"/>
              </a:ext>
            </a:extLst>
          </p:cNvPr>
          <p:cNvSpPr/>
          <p:nvPr/>
        </p:nvSpPr>
        <p:spPr>
          <a:xfrm>
            <a:off x="5763887" y="5245975"/>
            <a:ext cx="179496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spcBef>
                <a:spcPts val="601"/>
              </a:spcBef>
            </a:pPr>
            <a:r>
              <a:rPr lang="en-GB" sz="1200" b="1" dirty="0">
                <a:solidFill>
                  <a:schemeClr val="lt1"/>
                </a:solidFill>
                <a:latin typeface="Segoe UI"/>
              </a:rPr>
              <a:t>Prompt </a:t>
            </a:r>
            <a:r>
              <a:rPr lang="en-GB" sz="1200" b="1">
                <a:solidFill>
                  <a:schemeClr val="lt1"/>
                </a:solidFill>
                <a:latin typeface="Segoe UI"/>
              </a:rPr>
              <a:t>Engineering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spcBef>
                <a:spcPts val="601"/>
              </a:spcBef>
            </a:pPr>
            <a:r>
              <a:rPr lang="en-GB" sz="1100" dirty="0">
                <a:solidFill>
                  <a:schemeClr val="lt1"/>
                </a:solidFill>
                <a:latin typeface="Segoe UI"/>
                <a:cs typeface="Segoe UI"/>
              </a:rPr>
              <a:t>Other LLMs </a:t>
            </a:r>
            <a:r>
              <a:rPr lang="en-GB" sz="1100">
                <a:solidFill>
                  <a:schemeClr val="lt1"/>
                </a:solidFill>
                <a:latin typeface="Segoe UI"/>
                <a:cs typeface="Segoe UI"/>
              </a:rPr>
              <a:t>yielded subpar </a:t>
            </a:r>
            <a:r>
              <a:rPr lang="en-GB" sz="1100" dirty="0">
                <a:solidFill>
                  <a:schemeClr val="lt1"/>
                </a:solidFill>
                <a:latin typeface="Segoe UI"/>
                <a:cs typeface="Segoe UI"/>
              </a:rPr>
              <a:t>responses to prompts</a:t>
            </a:r>
            <a:endParaRPr lang="en-GB" sz="1100" dirty="0">
              <a:solidFill>
                <a:schemeClr val="lt1"/>
              </a:solidFill>
              <a:latin typeface="Segoe UI"/>
              <a:ea typeface="Calibri"/>
              <a:cs typeface="Segoe UI"/>
            </a:endParaRPr>
          </a:p>
        </p:txBody>
      </p:sp>
      <p:sp>
        <p:nvSpPr>
          <p:cNvPr id="134" name="TextBox 79">
            <a:extLst>
              <a:ext uri="{FF2B5EF4-FFF2-40B4-BE49-F238E27FC236}">
                <a16:creationId xmlns:a16="http://schemas.microsoft.com/office/drawing/2014/main" id="{D6590967-39F8-DAB7-FEDD-D6B62D5DCB95}"/>
              </a:ext>
            </a:extLst>
          </p:cNvPr>
          <p:cNvSpPr/>
          <p:nvPr/>
        </p:nvSpPr>
        <p:spPr>
          <a:xfrm>
            <a:off x="7714367" y="5245975"/>
            <a:ext cx="179496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spcBef>
                <a:spcPts val="601"/>
              </a:spcBef>
            </a:pPr>
            <a:r>
              <a:rPr lang="en-GB" sz="1200" b="1">
                <a:solidFill>
                  <a:schemeClr val="lt1"/>
                </a:solidFill>
                <a:latin typeface="Segoe UI"/>
              </a:rPr>
              <a:t>Testing</a:t>
            </a: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algn="ctr">
              <a:spcBef>
                <a:spcPts val="601"/>
              </a:spcBef>
            </a:pPr>
            <a:r>
              <a:rPr lang="en-GB" sz="1100">
                <a:solidFill>
                  <a:schemeClr val="lt1"/>
                </a:solidFill>
                <a:latin typeface="Segoe UI"/>
                <a:ea typeface="Calibri"/>
                <a:cs typeface="Segoe UI"/>
              </a:rPr>
              <a:t>Using request/ response pairs to </a:t>
            </a:r>
            <a:r>
              <a:rPr lang="en-GB" sz="1100" dirty="0">
                <a:solidFill>
                  <a:schemeClr val="lt1"/>
                </a:solidFill>
                <a:latin typeface="Segoe UI"/>
                <a:ea typeface="Calibri"/>
                <a:cs typeface="Segoe UI"/>
              </a:rPr>
              <a:t>test accuracy</a:t>
            </a:r>
            <a:endParaRPr lang="en-GB" sz="1100" dirty="0">
              <a:solidFill>
                <a:schemeClr val="lt1"/>
              </a:solidFill>
              <a:latin typeface="Segoe UI"/>
              <a:cs typeface="Segoe UI"/>
            </a:endParaRPr>
          </a:p>
        </p:txBody>
      </p:sp>
      <p:sp>
        <p:nvSpPr>
          <p:cNvPr id="135" name="TextBox 80">
            <a:extLst>
              <a:ext uri="{FF2B5EF4-FFF2-40B4-BE49-F238E27FC236}">
                <a16:creationId xmlns:a16="http://schemas.microsoft.com/office/drawing/2014/main" id="{C2836E58-D6A8-4B46-B3F8-863D6B33E542}"/>
              </a:ext>
            </a:extLst>
          </p:cNvPr>
          <p:cNvSpPr/>
          <p:nvPr/>
        </p:nvSpPr>
        <p:spPr>
          <a:xfrm>
            <a:off x="9741527" y="5245975"/>
            <a:ext cx="1794960" cy="86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01"/>
              </a:spcBef>
            </a:pPr>
            <a:r>
              <a:rPr lang="en-GB" sz="1200" b="1">
                <a:solidFill>
                  <a:schemeClr val="lt1"/>
                </a:solidFill>
                <a:latin typeface="Segoe UI"/>
              </a:rPr>
              <a:t>Monitoring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spcBef>
                <a:spcPts val="601"/>
              </a:spcBef>
            </a:pPr>
            <a:r>
              <a:rPr lang="en-GB" sz="1100">
                <a:solidFill>
                  <a:schemeClr val="lt1"/>
                </a:solidFill>
                <a:latin typeface="Segoe UI"/>
                <a:cs typeface="Segoe UI"/>
              </a:rPr>
              <a:t>Usage limits are set at the profile level </a:t>
            </a:r>
            <a:br>
              <a:rPr lang="en-GB" sz="1100" dirty="0">
                <a:latin typeface="Segoe UI"/>
                <a:cs typeface="Segoe UI"/>
              </a:rPr>
            </a:br>
            <a:r>
              <a:rPr lang="en-GB" sz="1100">
                <a:solidFill>
                  <a:schemeClr val="lt1"/>
                </a:solidFill>
                <a:latin typeface="Segoe UI"/>
                <a:cs typeface="Segoe UI"/>
              </a:rPr>
              <a:t>(e.g., token usage)</a:t>
            </a:r>
            <a:endParaRPr lang="en-GB" sz="1100" b="0" u="none" strike="noStrike">
              <a:solidFill>
                <a:schemeClr val="lt1"/>
              </a:solidFill>
              <a:effectLst/>
              <a:uFillTx/>
              <a:latin typeface="Segoe UI"/>
              <a:cs typeface="Segoe UI"/>
            </a:endParaRPr>
          </a:p>
        </p:txBody>
      </p:sp>
      <p:sp>
        <p:nvSpPr>
          <p:cNvPr id="136" name="TextBox 81">
            <a:extLst>
              <a:ext uri="{FF2B5EF4-FFF2-40B4-BE49-F238E27FC236}">
                <a16:creationId xmlns:a16="http://schemas.microsoft.com/office/drawing/2014/main" id="{B799AD42-FC68-413E-3D7F-D16151DB36BA}"/>
              </a:ext>
            </a:extLst>
          </p:cNvPr>
          <p:cNvSpPr/>
          <p:nvPr/>
        </p:nvSpPr>
        <p:spPr>
          <a:xfrm>
            <a:off x="3930767" y="2146015"/>
            <a:ext cx="3204720" cy="179903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750" indent="-215900">
              <a:spcAft>
                <a:spcPts val="601"/>
              </a:spcAft>
              <a:buClr>
                <a:srgbClr val="000000"/>
              </a:buClr>
              <a:buFont typeface="Wingdings" charset="2"/>
              <a:buChar char=""/>
            </a:pPr>
            <a:r>
              <a:rPr lang="en-IN" sz="1200">
                <a:solidFill>
                  <a:schemeClr val="dk1"/>
                </a:solidFill>
                <a:highlight>
                  <a:srgbClr val="FFFFFF"/>
                </a:highlight>
                <a:latin typeface="Segoe UI"/>
                <a:cs typeface="Segoe UI"/>
              </a:rPr>
              <a:t>Other LLMs tested: AWS Nova</a:t>
            </a:r>
            <a:r>
              <a:rPr lang="en-US" sz="1200">
                <a:solidFill>
                  <a:schemeClr val="dk1"/>
                </a:solidFill>
                <a:highlight>
                  <a:srgbClr val="FFFFFF"/>
                </a:highlight>
                <a:latin typeface="Segoe UI"/>
                <a:cs typeface="Segoe UI"/>
              </a:rPr>
              <a:t>, Mistral, Meta Llama</a:t>
            </a:r>
          </a:p>
          <a:p>
            <a:pPr marL="285750" indent="-215900">
              <a:spcAft>
                <a:spcPts val="601"/>
              </a:spcAft>
              <a:buClr>
                <a:srgbClr val="000000"/>
              </a:buClr>
              <a:buFont typeface="Wingdings" charset="2"/>
              <a:buChar char=""/>
            </a:pPr>
            <a:r>
              <a:rPr lang="en-IN" sz="1200">
                <a:highlight>
                  <a:srgbClr val="FFFFFF"/>
                </a:highlight>
                <a:latin typeface="Segoe UI"/>
                <a:cs typeface="Segoe UI"/>
              </a:rPr>
              <a:t>Anthropic Claude </a:t>
            </a:r>
            <a:r>
              <a:rPr lang="en-IN" sz="1200">
                <a:highlight>
                  <a:srgbClr val="FFFFFF"/>
                </a:highlight>
                <a:latin typeface="Aptos"/>
                <a:cs typeface="Segoe UI"/>
              </a:rPr>
              <a:t>scored significantly higher in accuracy &amp; quality of response</a:t>
            </a:r>
            <a:endParaRPr lang="en-US" sz="1200">
              <a:highlight>
                <a:srgbClr val="FFFFFF"/>
              </a:highlight>
              <a:latin typeface="Aptos"/>
            </a:endParaRPr>
          </a:p>
          <a:p>
            <a:pPr marL="285750" indent="-215900">
              <a:spcAft>
                <a:spcPts val="601"/>
              </a:spcAft>
              <a:buClr>
                <a:srgbClr val="000000"/>
              </a:buClr>
              <a:buFont typeface="Wingdings" charset="2"/>
              <a:buChar char=""/>
            </a:pPr>
            <a:r>
              <a:rPr lang="en-IN" sz="1200">
                <a:solidFill>
                  <a:schemeClr val="dk1"/>
                </a:solidFill>
                <a:latin typeface="Segoe UI"/>
              </a:rPr>
              <a:t>Switching models would be a small effort</a:t>
            </a:r>
            <a:endParaRPr lang="en-IN" sz="1200">
              <a:solidFill>
                <a:schemeClr val="dk1"/>
              </a:solidFill>
              <a:latin typeface="Segoe UI"/>
              <a:cs typeface="Segoe UI"/>
            </a:endParaRPr>
          </a:p>
          <a:p>
            <a:pPr marL="285750" indent="-215900">
              <a:spcAft>
                <a:spcPts val="601"/>
              </a:spcAft>
              <a:buClr>
                <a:srgbClr val="000000"/>
              </a:buClr>
              <a:buFont typeface="Wingdings" charset="2"/>
              <a:buChar char=""/>
            </a:pPr>
            <a:r>
              <a:rPr lang="en-IN" sz="1200">
                <a:solidFill>
                  <a:schemeClr val="dk1"/>
                </a:solidFill>
                <a:highlight>
                  <a:srgbClr val="FFFF00"/>
                </a:highlight>
                <a:latin typeface="Segoe UI"/>
                <a:cs typeface="Segoe UI"/>
              </a:rPr>
              <a:t>Workflow enhancements underway to reduce token usage (reduce cost)</a:t>
            </a:r>
          </a:p>
        </p:txBody>
      </p:sp>
      <p:sp>
        <p:nvSpPr>
          <p:cNvPr id="137" name="TextBox 82">
            <a:extLst>
              <a:ext uri="{FF2B5EF4-FFF2-40B4-BE49-F238E27FC236}">
                <a16:creationId xmlns:a16="http://schemas.microsoft.com/office/drawing/2014/main" id="{84A3FEE7-4693-F2B1-B5F5-7D9813396818}"/>
              </a:ext>
            </a:extLst>
          </p:cNvPr>
          <p:cNvSpPr/>
          <p:nvPr/>
        </p:nvSpPr>
        <p:spPr>
          <a:xfrm>
            <a:off x="7863047" y="2146015"/>
            <a:ext cx="3204720" cy="179903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750" indent="-215900">
              <a:spcAft>
                <a:spcPts val="601"/>
              </a:spcAft>
              <a:buClr>
                <a:srgbClr val="000000"/>
              </a:buClr>
              <a:buFont typeface="Wingdings" charset="2"/>
              <a:buChar char=""/>
            </a:pPr>
            <a:r>
              <a:rPr lang="en-GB" sz="1200">
                <a:solidFill>
                  <a:schemeClr val="dk1"/>
                </a:solidFill>
                <a:latin typeface="Segoe UI"/>
                <a:cs typeface="Segoe UI"/>
              </a:rPr>
              <a:t>Explore other AWS Bedrock capabilities for scalability and maintainability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Segoe UI"/>
              <a:cs typeface="Segoe UI"/>
            </a:endParaRPr>
          </a:p>
          <a:p>
            <a:pPr marL="285750" indent="-215900">
              <a:spcAft>
                <a:spcPts val="601"/>
              </a:spcAft>
              <a:buClr>
                <a:srgbClr val="000000"/>
              </a:buClr>
              <a:buFont typeface="Wingdings" charset="2"/>
              <a:buChar char=""/>
            </a:pPr>
            <a:r>
              <a:rPr lang="en-GB" sz="1200">
                <a:solidFill>
                  <a:schemeClr val="dk1"/>
                </a:solidFill>
                <a:latin typeface="Segoe UI"/>
                <a:cs typeface="Segoe UI"/>
              </a:rPr>
              <a:t>Consider additional testing measures beyond qualitative evaluation</a:t>
            </a:r>
          </a:p>
          <a:p>
            <a:pPr marL="285750" indent="-215900">
              <a:spcAft>
                <a:spcPts val="601"/>
              </a:spcAft>
              <a:buClr>
                <a:srgbClr val="000000"/>
              </a:buClr>
              <a:buFont typeface="Wingdings" charset="2"/>
              <a:buChar char=""/>
            </a:pPr>
            <a:r>
              <a:rPr lang="en-GB" sz="1200">
                <a:solidFill>
                  <a:schemeClr val="dk1"/>
                </a:solidFill>
                <a:latin typeface="Segoe UI"/>
                <a:cs typeface="Segoe UI"/>
              </a:rPr>
              <a:t>Define solution performance metrics</a:t>
            </a:r>
            <a:r>
              <a:rPr lang="en-GB" sz="1200" dirty="0">
                <a:solidFill>
                  <a:schemeClr val="dk1"/>
                </a:solidFill>
                <a:latin typeface="Segoe UI"/>
                <a:cs typeface="Segoe UI"/>
              </a:rPr>
              <a:t> before switching to a different model</a:t>
            </a:r>
          </a:p>
          <a:p>
            <a:pPr marL="285750" indent="-215900">
              <a:spcAft>
                <a:spcPts val="601"/>
              </a:spcAft>
              <a:buClr>
                <a:srgbClr val="000000"/>
              </a:buClr>
              <a:buFont typeface="Wingdings" charset="2"/>
              <a:buChar char=""/>
            </a:pPr>
            <a:r>
              <a:rPr lang="en-GB" sz="1200" dirty="0">
                <a:solidFill>
                  <a:schemeClr val="dk1"/>
                </a:solidFill>
                <a:latin typeface="Segoe UI"/>
                <a:cs typeface="Segoe UI"/>
              </a:rPr>
              <a:t>Implement robust monitoring tools for overall solution </a:t>
            </a:r>
            <a:r>
              <a:rPr lang="en-GB" sz="1200" dirty="0" err="1">
                <a:solidFill>
                  <a:schemeClr val="dk1"/>
                </a:solidFill>
                <a:latin typeface="Segoe UI"/>
                <a:cs typeface="Segoe UI"/>
              </a:rPr>
              <a:t>behavior</a:t>
            </a:r>
            <a:endParaRPr lang="en-GB" sz="1200">
              <a:solidFill>
                <a:schemeClr val="dk1"/>
              </a:solidFill>
              <a:latin typeface="Segoe UI"/>
              <a:cs typeface="Segoe UI"/>
            </a:endParaRPr>
          </a:p>
        </p:txBody>
      </p:sp>
      <p:sp>
        <p:nvSpPr>
          <p:cNvPr id="139" name="TextBox 84">
            <a:extLst>
              <a:ext uri="{FF2B5EF4-FFF2-40B4-BE49-F238E27FC236}">
                <a16:creationId xmlns:a16="http://schemas.microsoft.com/office/drawing/2014/main" id="{ADAE8D6A-656A-2699-26DD-3F856DB4ECB1}"/>
              </a:ext>
            </a:extLst>
          </p:cNvPr>
          <p:cNvSpPr/>
          <p:nvPr/>
        </p:nvSpPr>
        <p:spPr>
          <a:xfrm>
            <a:off x="8676647" y="1642375"/>
            <a:ext cx="2280960" cy="303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IN" sz="14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Recommendations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0" name="Straight Connector 53">
            <a:extLst>
              <a:ext uri="{FF2B5EF4-FFF2-40B4-BE49-F238E27FC236}">
                <a16:creationId xmlns:a16="http://schemas.microsoft.com/office/drawing/2014/main" id="{FE06746F-B946-D293-1790-6F7CC4DC0E34}"/>
              </a:ext>
            </a:extLst>
          </p:cNvPr>
          <p:cNvCxnSpPr/>
          <p:nvPr/>
        </p:nvCxnSpPr>
        <p:spPr>
          <a:xfrm>
            <a:off x="8766647" y="1946935"/>
            <a:ext cx="1982880" cy="360"/>
          </a:xfrm>
          <a:prstGeom prst="straightConnector1">
            <a:avLst/>
          </a:prstGeom>
          <a:ln>
            <a:solidFill>
              <a:srgbClr val="4472C4"/>
            </a:solidFill>
          </a:ln>
        </p:spPr>
      </p:cxnSp>
      <p:sp>
        <p:nvSpPr>
          <p:cNvPr id="141" name="TextBox 85">
            <a:extLst>
              <a:ext uri="{FF2B5EF4-FFF2-40B4-BE49-F238E27FC236}">
                <a16:creationId xmlns:a16="http://schemas.microsoft.com/office/drawing/2014/main" id="{FC162329-8944-78FB-B53C-CDEC08C3FA55}"/>
              </a:ext>
            </a:extLst>
          </p:cNvPr>
          <p:cNvSpPr/>
          <p:nvPr/>
        </p:nvSpPr>
        <p:spPr>
          <a:xfrm>
            <a:off x="4635647" y="1642375"/>
            <a:ext cx="2280960" cy="303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IN" sz="14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Trade-off Summary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2" name="Straight Connector 54">
            <a:extLst>
              <a:ext uri="{FF2B5EF4-FFF2-40B4-BE49-F238E27FC236}">
                <a16:creationId xmlns:a16="http://schemas.microsoft.com/office/drawing/2014/main" id="{2497E38C-0D54-AC64-CD84-0D760521426E}"/>
              </a:ext>
            </a:extLst>
          </p:cNvPr>
          <p:cNvCxnSpPr/>
          <p:nvPr/>
        </p:nvCxnSpPr>
        <p:spPr>
          <a:xfrm>
            <a:off x="4808087" y="1944055"/>
            <a:ext cx="1982880" cy="360"/>
          </a:xfrm>
          <a:prstGeom prst="straightConnector1">
            <a:avLst/>
          </a:prstGeom>
          <a:ln>
            <a:solidFill>
              <a:srgbClr val="4472C4"/>
            </a:solidFill>
          </a:ln>
        </p:spPr>
      </p:cxnSp>
      <p:cxnSp>
        <p:nvCxnSpPr>
          <p:cNvPr id="143" name="Straight Connector 55">
            <a:extLst>
              <a:ext uri="{FF2B5EF4-FFF2-40B4-BE49-F238E27FC236}">
                <a16:creationId xmlns:a16="http://schemas.microsoft.com/office/drawing/2014/main" id="{DBE8C0E0-FE30-A2A0-0812-3115D77EA659}"/>
              </a:ext>
            </a:extLst>
          </p:cNvPr>
          <p:cNvCxnSpPr/>
          <p:nvPr/>
        </p:nvCxnSpPr>
        <p:spPr>
          <a:xfrm>
            <a:off x="575280" y="2957378"/>
            <a:ext cx="2482560" cy="360"/>
          </a:xfrm>
          <a:prstGeom prst="straightConnector1">
            <a:avLst/>
          </a:prstGeom>
          <a:ln>
            <a:solidFill>
              <a:srgbClr val="FFFFFF">
                <a:lumMod val="65000"/>
              </a:srgbClr>
            </a:solidFill>
          </a:ln>
        </p:spPr>
      </p:cxnSp>
      <p:cxnSp>
        <p:nvCxnSpPr>
          <p:cNvPr id="144" name="Straight Connector 56">
            <a:extLst>
              <a:ext uri="{FF2B5EF4-FFF2-40B4-BE49-F238E27FC236}">
                <a16:creationId xmlns:a16="http://schemas.microsoft.com/office/drawing/2014/main" id="{F41F200D-58F2-30B3-A8D9-25924A228BD3}"/>
              </a:ext>
            </a:extLst>
          </p:cNvPr>
          <p:cNvCxnSpPr/>
          <p:nvPr/>
        </p:nvCxnSpPr>
        <p:spPr>
          <a:xfrm>
            <a:off x="575280" y="3382898"/>
            <a:ext cx="2482560" cy="360"/>
          </a:xfrm>
          <a:prstGeom prst="straightConnector1">
            <a:avLst/>
          </a:prstGeom>
          <a:ln>
            <a:solidFill>
              <a:srgbClr val="FFFFFF">
                <a:lumMod val="65000"/>
              </a:srgbClr>
            </a:solidFill>
          </a:ln>
        </p:spPr>
      </p:cxnSp>
      <p:cxnSp>
        <p:nvCxnSpPr>
          <p:cNvPr id="145" name="Straight Connector 57">
            <a:extLst>
              <a:ext uri="{FF2B5EF4-FFF2-40B4-BE49-F238E27FC236}">
                <a16:creationId xmlns:a16="http://schemas.microsoft.com/office/drawing/2014/main" id="{33782F81-21DB-BEEF-A86B-84D829DF9284}"/>
              </a:ext>
            </a:extLst>
          </p:cNvPr>
          <p:cNvCxnSpPr/>
          <p:nvPr/>
        </p:nvCxnSpPr>
        <p:spPr>
          <a:xfrm>
            <a:off x="575280" y="3827577"/>
            <a:ext cx="2482560" cy="360"/>
          </a:xfrm>
          <a:prstGeom prst="straightConnector1">
            <a:avLst/>
          </a:prstGeom>
          <a:ln>
            <a:solidFill>
              <a:srgbClr val="FFFFFF">
                <a:lumMod val="65000"/>
              </a:srgbClr>
            </a:solidFill>
          </a:ln>
        </p:spPr>
      </p:cxnSp>
      <p:cxnSp>
        <p:nvCxnSpPr>
          <p:cNvPr id="146" name="Straight Connector 58">
            <a:extLst>
              <a:ext uri="{FF2B5EF4-FFF2-40B4-BE49-F238E27FC236}">
                <a16:creationId xmlns:a16="http://schemas.microsoft.com/office/drawing/2014/main" id="{5745A132-E4C4-822C-4EC1-309CB4FEBEFB}"/>
              </a:ext>
            </a:extLst>
          </p:cNvPr>
          <p:cNvCxnSpPr/>
          <p:nvPr/>
        </p:nvCxnSpPr>
        <p:spPr>
          <a:xfrm>
            <a:off x="575280" y="4260792"/>
            <a:ext cx="2482560" cy="360"/>
          </a:xfrm>
          <a:prstGeom prst="straightConnector1">
            <a:avLst/>
          </a:prstGeom>
          <a:ln>
            <a:solidFill>
              <a:srgbClr val="FFFFFF">
                <a:lumMod val="65000"/>
              </a:srgbClr>
            </a:solidFill>
          </a:ln>
        </p:spPr>
      </p:cxnSp>
      <p:cxnSp>
        <p:nvCxnSpPr>
          <p:cNvPr id="147" name="Straight Connector 59">
            <a:extLst>
              <a:ext uri="{FF2B5EF4-FFF2-40B4-BE49-F238E27FC236}">
                <a16:creationId xmlns:a16="http://schemas.microsoft.com/office/drawing/2014/main" id="{5EA8067D-3CBA-0F08-C790-873E3112C0C9}"/>
              </a:ext>
            </a:extLst>
          </p:cNvPr>
          <p:cNvCxnSpPr/>
          <p:nvPr/>
        </p:nvCxnSpPr>
        <p:spPr>
          <a:xfrm>
            <a:off x="575280" y="4659098"/>
            <a:ext cx="2482560" cy="360"/>
          </a:xfrm>
          <a:prstGeom prst="straightConnector1">
            <a:avLst/>
          </a:prstGeom>
          <a:ln>
            <a:solidFill>
              <a:srgbClr val="FFFFFF">
                <a:lumMod val="65000"/>
              </a:srgbClr>
            </a:solidFill>
          </a:ln>
        </p:spPr>
      </p:cxnSp>
      <p:pic>
        <p:nvPicPr>
          <p:cNvPr id="148" name="Picture 38">
            <a:extLst>
              <a:ext uri="{FF2B5EF4-FFF2-40B4-BE49-F238E27FC236}">
                <a16:creationId xmlns:a16="http://schemas.microsoft.com/office/drawing/2014/main" id="{33BA516A-E837-08F9-B2CF-CEACB2381608}"/>
              </a:ext>
            </a:extLst>
          </p:cNvPr>
          <p:cNvPicPr/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4076567" y="1717615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9" name="Picture 39">
            <a:extLst>
              <a:ext uri="{FF2B5EF4-FFF2-40B4-BE49-F238E27FC236}">
                <a16:creationId xmlns:a16="http://schemas.microsoft.com/office/drawing/2014/main" id="{B01C105B-726C-B669-75B8-EC22F61ED357}"/>
              </a:ext>
            </a:extLst>
          </p:cNvPr>
          <p:cNvPicPr/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8039447" y="1717255"/>
            <a:ext cx="284040" cy="284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0" name="Picture 40">
            <a:extLst>
              <a:ext uri="{FF2B5EF4-FFF2-40B4-BE49-F238E27FC236}">
                <a16:creationId xmlns:a16="http://schemas.microsoft.com/office/drawing/2014/main" id="{6A488D70-D62E-6B81-B5F5-212856A81057}"/>
              </a:ext>
            </a:extLst>
          </p:cNvPr>
          <p:cNvPicPr/>
          <p:nvPr/>
        </p:nvPicPr>
        <p:blipFill>
          <a:blip r:embed="rId6"/>
          <a:stretch/>
        </p:blipFill>
        <p:spPr>
          <a:xfrm>
            <a:off x="4495967" y="4736575"/>
            <a:ext cx="351360" cy="351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3" name="Picture 43">
            <a:extLst>
              <a:ext uri="{FF2B5EF4-FFF2-40B4-BE49-F238E27FC236}">
                <a16:creationId xmlns:a16="http://schemas.microsoft.com/office/drawing/2014/main" id="{F508E366-1054-BEB8-15E2-EE5030699C67}"/>
              </a:ext>
            </a:extLst>
          </p:cNvPr>
          <p:cNvPicPr/>
          <p:nvPr/>
        </p:nvPicPr>
        <p:blipFill>
          <a:blip r:embed="rId7"/>
          <a:stretch/>
        </p:blipFill>
        <p:spPr>
          <a:xfrm>
            <a:off x="10435607" y="4709215"/>
            <a:ext cx="406440" cy="406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5" name="Picture 45">
            <a:extLst>
              <a:ext uri="{FF2B5EF4-FFF2-40B4-BE49-F238E27FC236}">
                <a16:creationId xmlns:a16="http://schemas.microsoft.com/office/drawing/2014/main" id="{DDCD4B96-7776-9944-0A0B-20AAB7E6DFEF}"/>
              </a:ext>
            </a:extLst>
          </p:cNvPr>
          <p:cNvPicPr/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254160" y="2654978"/>
            <a:ext cx="179640" cy="17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6" name="Picture 46">
            <a:extLst>
              <a:ext uri="{FF2B5EF4-FFF2-40B4-BE49-F238E27FC236}">
                <a16:creationId xmlns:a16="http://schemas.microsoft.com/office/drawing/2014/main" id="{2245D1AB-4D2A-F084-9385-C3EA9367DEE0}"/>
              </a:ext>
            </a:extLst>
          </p:cNvPr>
          <p:cNvPicPr/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254160" y="3080498"/>
            <a:ext cx="179640" cy="17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7" name="Picture 47">
            <a:extLst>
              <a:ext uri="{FF2B5EF4-FFF2-40B4-BE49-F238E27FC236}">
                <a16:creationId xmlns:a16="http://schemas.microsoft.com/office/drawing/2014/main" id="{CB39CCB9-7F3D-8381-0A61-44A19D71DAB5}"/>
              </a:ext>
            </a:extLst>
          </p:cNvPr>
          <p:cNvPicPr/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254160" y="3972923"/>
            <a:ext cx="179640" cy="17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8" name="Picture 48">
            <a:extLst>
              <a:ext uri="{FF2B5EF4-FFF2-40B4-BE49-F238E27FC236}">
                <a16:creationId xmlns:a16="http://schemas.microsoft.com/office/drawing/2014/main" id="{0BC6C456-B215-D033-CAB8-E82A626CC8D2}"/>
              </a:ext>
            </a:extLst>
          </p:cNvPr>
          <p:cNvPicPr/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254160" y="4412050"/>
            <a:ext cx="179640" cy="17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0" name="Picture 50">
            <a:extLst>
              <a:ext uri="{FF2B5EF4-FFF2-40B4-BE49-F238E27FC236}">
                <a16:creationId xmlns:a16="http://schemas.microsoft.com/office/drawing/2014/main" id="{631E701D-1B7E-7A20-11F7-C1D32CB7D207}"/>
              </a:ext>
            </a:extLst>
          </p:cNvPr>
          <p:cNvPicPr/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254160" y="3528518"/>
            <a:ext cx="179640" cy="17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879FAF18-16B1-3483-1CC9-12ADECF0173B}"/>
              </a:ext>
            </a:extLst>
          </p:cNvPr>
          <p:cNvSpPr txBox="1">
            <a:spLocks/>
          </p:cNvSpPr>
          <p:nvPr/>
        </p:nvSpPr>
        <p:spPr>
          <a:xfrm>
            <a:off x="1038225" y="526489"/>
            <a:ext cx="10315575" cy="97684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rgbClr val="004986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Arial"/>
                <a:cs typeface="Arial"/>
              </a:rPr>
              <a:t>PSP RADVI AI</a:t>
            </a:r>
            <a:endParaRPr lang="en-US"/>
          </a:p>
        </p:txBody>
      </p:sp>
      <p:sp>
        <p:nvSpPr>
          <p:cNvPr id="2" name="TextBox 75">
            <a:extLst>
              <a:ext uri="{FF2B5EF4-FFF2-40B4-BE49-F238E27FC236}">
                <a16:creationId xmlns:a16="http://schemas.microsoft.com/office/drawing/2014/main" id="{D6AD39DE-1E1D-CC35-E11A-25E37A641168}"/>
              </a:ext>
            </a:extLst>
          </p:cNvPr>
          <p:cNvSpPr/>
          <p:nvPr/>
        </p:nvSpPr>
        <p:spPr>
          <a:xfrm>
            <a:off x="351946" y="4972979"/>
            <a:ext cx="2702880" cy="275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lang="en-GB" sz="1200" b="1">
                <a:solidFill>
                  <a:schemeClr val="dk1"/>
                </a:solidFill>
                <a:latin typeface="Segoe UI"/>
              </a:rPr>
              <a:t>Rework Assessment:</a:t>
            </a:r>
            <a:endParaRPr lang="en-GB" sz="1200" b="1" u="none" strike="noStrike">
              <a:solidFill>
                <a:schemeClr val="dk1"/>
              </a:solidFill>
              <a:effectLst/>
              <a:uFillTx/>
              <a:latin typeface="Segoe UI"/>
              <a:cs typeface="Segoe UI"/>
            </a:endParaRPr>
          </a:p>
        </p:txBody>
      </p:sp>
      <p:sp>
        <p:nvSpPr>
          <p:cNvPr id="4" name="Google Shape;712;p 1">
            <a:extLst>
              <a:ext uri="{FF2B5EF4-FFF2-40B4-BE49-F238E27FC236}">
                <a16:creationId xmlns:a16="http://schemas.microsoft.com/office/drawing/2014/main" id="{4ECEF190-9E22-F949-D417-3BB057B11393}"/>
              </a:ext>
            </a:extLst>
          </p:cNvPr>
          <p:cNvSpPr/>
          <p:nvPr/>
        </p:nvSpPr>
        <p:spPr>
          <a:xfrm>
            <a:off x="1198294" y="5408507"/>
            <a:ext cx="823213" cy="362377"/>
          </a:xfrm>
          <a:prstGeom prst="rect">
            <a:avLst/>
          </a:prstGeom>
          <a:solidFill>
            <a:srgbClr val="FFFF00"/>
          </a:solidFill>
          <a:ln w="0">
            <a:solidFill>
              <a:srgbClr val="FFFF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8400" tIns="34200" rIns="68400" bIns="3420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id" sz="1200">
                <a:solidFill>
                  <a:srgbClr val="000000"/>
                </a:solidFill>
                <a:latin typeface="Segoe UI"/>
                <a:ea typeface="Calibri"/>
                <a:cs typeface="Segoe UI"/>
              </a:rPr>
              <a:t>Medium</a:t>
            </a:r>
            <a:endParaRPr lang="id" sz="1200" b="0" u="none" strike="noStrike">
              <a:solidFill>
                <a:srgbClr val="000000"/>
              </a:solidFill>
              <a:effectLst/>
              <a:uFillTx/>
              <a:latin typeface="Segoe UI"/>
              <a:ea typeface="Calibri"/>
              <a:cs typeface="Segoe UI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B8A1EDC-D9F0-0316-E8FC-5A213544EC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329084" y="4630208"/>
            <a:ext cx="576791" cy="57679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DB2AC70F-727F-96E1-5615-844D0BF6D3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397625" y="4720167"/>
            <a:ext cx="418041" cy="470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95836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5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3C2EED5A8D3044D9500DA1C802C3862" ma:contentTypeVersion="4" ma:contentTypeDescription="Create a new document." ma:contentTypeScope="" ma:versionID="c840d6b4daa6ca526176ca2944eb0dac">
  <xsd:schema xmlns:xsd="http://www.w3.org/2001/XMLSchema" xmlns:xs="http://www.w3.org/2001/XMLSchema" xmlns:p="http://schemas.microsoft.com/office/2006/metadata/properties" xmlns:ns2="6fe3e220-981c-4290-bffd-cada7f9da667" targetNamespace="http://schemas.microsoft.com/office/2006/metadata/properties" ma:root="true" ma:fieldsID="da1df62882ff8c974e729af9e9348899" ns2:_="">
    <xsd:import namespace="6fe3e220-981c-4290-bffd-cada7f9da66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e3e220-981c-4290-bffd-cada7f9da66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1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5694CB6-6263-4B07-A6E6-318722160B81}">
  <ds:schemaRefs>
    <ds:schemaRef ds:uri="6fe3e220-981c-4290-bffd-cada7f9da66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3143806-B93D-4F39-ADC3-B33104900339}">
  <ds:schemaRefs>
    <ds:schemaRef ds:uri="6fe3e220-981c-4290-bffd-cada7f9da667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F06F8F97-E881-48BB-B2DA-7848B074007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51d9dc18-15ea-424b-b24d-55ab4d4e7519}" enabled="1" method="Privileged" siteId="{66d73691-ea97-48b1-95d5-e94f0a46b878}" removed="0"/>
  <clbl:label id="{d5fe813e-0caa-432a-b2ac-d555aa91bd1c}" enabled="0" method="" siteId="{d5fe813e-0caa-432a-b2ac-d555aa91bd1c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Macintosh PowerPoint</Application>
  <PresentationFormat>Widescreen</PresentationFormat>
  <Paragraphs>31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Segoe UI</vt:lpstr>
      <vt:lpstr>Wingdings</vt:lpstr>
      <vt:lpstr>5_Custom Design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CMS-PPT-Template-Patient-Collage</dc:title>
  <dc:subject/>
  <dc:creator>CMS MultimediaServices</dc:creator>
  <cp:keywords/>
  <dc:description/>
  <cp:lastModifiedBy>Su, Sandy (CMS/CTR)</cp:lastModifiedBy>
  <cp:revision>288</cp:revision>
  <dcterms:created xsi:type="dcterms:W3CDTF">2017-09-22T15:24:43Z</dcterms:created>
  <dcterms:modified xsi:type="dcterms:W3CDTF">2026-07-17T16:41:35Z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NewReviewCycle">
    <vt:lpwstr/>
  </property>
  <property fmtid="{D5CDD505-2E9C-101B-9397-08002B2CF9AE}" pid="3" name="TaxKeyword">
    <vt:lpwstr/>
  </property>
  <property fmtid="{D5CDD505-2E9C-101B-9397-08002B2CF9AE}" pid="4" name="Order">
    <vt:r8>2500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TemplateUrl">
    <vt:lpwstr/>
  </property>
  <property fmtid="{D5CDD505-2E9C-101B-9397-08002B2CF9AE}" pid="8" name="ComplianceAssetId">
    <vt:lpwstr/>
  </property>
  <property fmtid="{D5CDD505-2E9C-101B-9397-08002B2CF9AE}" pid="9" name="_ExtendedDescription">
    <vt:lpwstr/>
  </property>
  <property fmtid="{D5CDD505-2E9C-101B-9397-08002B2CF9AE}" pid="10" name="MediaServiceImageTags">
    <vt:lpwstr/>
  </property>
  <property fmtid="{D5CDD505-2E9C-101B-9397-08002B2CF9AE}" pid="11" name="_ShortcutUniqueId">
    <vt:lpwstr/>
  </property>
  <property fmtid="{D5CDD505-2E9C-101B-9397-08002B2CF9AE}" pid="12" name="_ShortcutUrl">
    <vt:lpwstr/>
  </property>
  <property fmtid="{D5CDD505-2E9C-101B-9397-08002B2CF9AE}" pid="13" name="_ShortcutWebId">
    <vt:lpwstr/>
  </property>
  <property fmtid="{D5CDD505-2E9C-101B-9397-08002B2CF9AE}" pid="14" name="_ShortcutSiteId">
    <vt:lpwstr/>
  </property>
  <property fmtid="{D5CDD505-2E9C-101B-9397-08002B2CF9AE}" pid="15" name="SharedWithUsers">
    <vt:lpwstr/>
  </property>
  <property fmtid="{D5CDD505-2E9C-101B-9397-08002B2CF9AE}" pid="16" name="ContentTypeId">
    <vt:lpwstr>0x01010013C2EED5A8D3044D9500DA1C802C3862</vt:lpwstr>
  </property>
  <property fmtid="{D5CDD505-2E9C-101B-9397-08002B2CF9AE}" pid="17" name="CMSConfluenceLink">
    <vt:lpwstr>, </vt:lpwstr>
  </property>
</Properties>
</file>