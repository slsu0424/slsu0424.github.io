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svg" ContentType="image/svg"/>
  <Override PartName="/ppt/media/image12.svg" ContentType="image/svg"/>
  <Override PartName="/ppt/media/image14.svg" ContentType="image/svg"/>
  <Override PartName="/ppt/media/image6.svg" ContentType="image/svg"/>
  <Override PartName="/ppt/media/image8.svg" ContentType="image/svg"/>
  <Override PartName="/ppt/media/image10.svg" ContentType="image/svg"/>
  <Override PartName="/ppt/media/image2.svg" ContentType="image/svg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E1A7E60-6C5D-4101-BB3F-B2F66B61FB9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Avoidance of Vendor Lock‑In​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 resources emphasize that being tied to one provider creates risk and dependency.​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LLM‑agnostic systems allow organizations to switch providers without major rewrites, avoiding sudden cost changes, API deprecations, or performance regressions.​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Flexibility to Choose the Best Model for Each Task​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Agnostic systems allow selecting the most cost‑effective, fastest, or most accurate model per workload.​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includes dynamically routing tasks (e.g., summarization vs. coding) to different models.​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Increased System Resilience​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not depending on a single model's uptime or stability, systems become more resilient to: 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outages,​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sudden behavior changes,​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degradation.​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Future‑Proofing Against Rapid AI Evolution​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entries highlight that models are evolving quickly.​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LLM‑agnostic architecture ensures systems can adopt better or cheaper models without architectural redesign.​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Improved Cost Optimization​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Agnostic architectures enable organizations to:​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 tasks to cheaper models when quality needs are lower,​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multiple providers and shift usage accordingly.​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Enhanced Safety, Governance, and Consistency​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summaries include references to LLM‑agnostic gateways and filtering layers that: 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consistent governance​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apply uniform safety filters​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validate outputs independent of the model used​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AA2F9B-2418-4B40-9F1B-71358A09F5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13FA2E-16B5-42AE-A789-9EBD900F3A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ED5D42-F401-43B9-95F9-20F93EBB2D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F1842C-1829-4E04-9D49-7EFF43AFD4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A7C56A-93C7-4242-A84E-417317D7BE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069536-3BFA-40A5-BC23-233C6B8ACA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CA96AC-0FAF-4622-B510-436D0079C1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CEBBA3-9706-400B-A631-1AF29CD0BD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149F75-6A90-4A37-8D5B-01A87D4B62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E20B9C-6778-4C5C-9EEA-A9FA137CA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E7977C-21DD-4CE4-A6D9-96E6D10929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image" Target="../media/image11.png"/><Relationship Id="rId12" Type="http://schemas.openxmlformats.org/officeDocument/2006/relationships/image" Target="../media/image12.svg"/><Relationship Id="rId13" Type="http://schemas.openxmlformats.org/officeDocument/2006/relationships/image" Target="../media/image13.png"/><Relationship Id="rId14" Type="http://schemas.openxmlformats.org/officeDocument/2006/relationships/image" Target="../media/image14.sv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71"/>
          <p:cNvSpPr/>
          <p:nvPr/>
        </p:nvSpPr>
        <p:spPr>
          <a:xfrm>
            <a:off x="0" y="537120"/>
            <a:ext cx="121917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595959"/>
                </a:solidFill>
                <a:effectLst/>
                <a:uFillTx/>
                <a:latin typeface="Montserrat"/>
              </a:rPr>
              <a:t>Data Cleansing Types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74"/>
          <p:cNvGrpSpPr/>
          <p:nvPr/>
        </p:nvGrpSpPr>
        <p:grpSpPr>
          <a:xfrm>
            <a:off x="1062360" y="1386000"/>
            <a:ext cx="10067040" cy="5149800"/>
            <a:chOff x="1062360" y="1386000"/>
            <a:chExt cx="10067040" cy="5149800"/>
          </a:xfrm>
        </p:grpSpPr>
        <p:sp>
          <p:nvSpPr>
            <p:cNvPr id="67" name="Freeform: Shape 12"/>
            <p:cNvSpPr/>
            <p:nvPr/>
          </p:nvSpPr>
          <p:spPr>
            <a:xfrm>
              <a:off x="3662640" y="224784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1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1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1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1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D62E4E"/>
            </a:solidFill>
            <a:ln w="13094">
              <a:solidFill>
                <a:srgbClr val="D62E4E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68" name="Freeform: Shape 21"/>
            <p:cNvSpPr/>
            <p:nvPr/>
          </p:nvSpPr>
          <p:spPr>
            <a:xfrm>
              <a:off x="3662640" y="408420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2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2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2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2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FF972F"/>
            </a:solidFill>
            <a:ln w="13094">
              <a:solidFill>
                <a:srgbClr val="EAA31B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69" name="Freeform: Shape 8"/>
            <p:cNvSpPr/>
            <p:nvPr/>
          </p:nvSpPr>
          <p:spPr>
            <a:xfrm>
              <a:off x="5238000" y="496620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997 h 1569997"/>
                <a:gd name="GluePoint2X" fmla="*/ 0 w 1812755"/>
                <a:gd name="GluePoint2Y" fmla="*/ 785064 h 1569997"/>
                <a:gd name="GluePoint3X" fmla="*/ 453123 w 1812755"/>
                <a:gd name="GluePoint3Y" fmla="*/ 0 h 1569997"/>
                <a:gd name="GluePoint4X" fmla="*/ 1359632 w 1812755"/>
                <a:gd name="GluePoint4Y" fmla="*/ 0 h 1569997"/>
                <a:gd name="GluePoint5X" fmla="*/ 1812756 w 1812755"/>
                <a:gd name="GluePoint5Y" fmla="*/ 785064 h 1569997"/>
                <a:gd name="GluePoint6X" fmla="*/ 1359632 w 1812755"/>
                <a:gd name="GluePoint6Y" fmla="*/ 1569997 h 1569997"/>
                <a:gd name="GluePoint7X" fmla="*/ 453123 w 1812755"/>
                <a:gd name="GluePoint7Y" fmla="*/ 1569997 h 15699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997">
                  <a:moveTo>
                    <a:pt x="453123" y="1569997"/>
                  </a:moveTo>
                  <a:lnTo>
                    <a:pt x="0" y="785064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5064"/>
                  </a:lnTo>
                  <a:lnTo>
                    <a:pt x="1359632" y="1569997"/>
                  </a:lnTo>
                  <a:lnTo>
                    <a:pt x="453123" y="1569997"/>
                  </a:lnTo>
                  <a:close/>
                </a:path>
              </a:pathLst>
            </a:custGeom>
            <a:solidFill>
              <a:srgbClr val="FFD428"/>
            </a:solidFill>
            <a:ln w="13094">
              <a:solidFill>
                <a:srgbClr val="FFD428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0" name="Freeform: Shape 25"/>
            <p:cNvSpPr/>
            <p:nvPr/>
          </p:nvSpPr>
          <p:spPr>
            <a:xfrm>
              <a:off x="6790320" y="408420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2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2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2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2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A2CD37"/>
            </a:solidFill>
            <a:ln w="13094">
              <a:solidFill>
                <a:srgbClr val="A2CD37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1" name="Freeform: Shape 17"/>
            <p:cNvSpPr/>
            <p:nvPr/>
          </p:nvSpPr>
          <p:spPr>
            <a:xfrm>
              <a:off x="6790320" y="224784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1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1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1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1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1C99E0"/>
            </a:solidFill>
            <a:ln w="13094">
              <a:solidFill>
                <a:srgbClr val="1C99E0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2" name="Freeform: Shape 4"/>
            <p:cNvSpPr/>
            <p:nvPr/>
          </p:nvSpPr>
          <p:spPr>
            <a:xfrm>
              <a:off x="5238000" y="138600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rgbClr val="6495ED"/>
            </a:solidFill>
            <a:ln w="13094">
              <a:solidFill>
                <a:srgbClr val="6495ED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3" name="Freeform: Shape 1"/>
            <p:cNvSpPr/>
            <p:nvPr/>
          </p:nvSpPr>
          <p:spPr>
            <a:xfrm>
              <a:off x="4594680" y="2670120"/>
              <a:ext cx="3087720" cy="2619000"/>
            </a:xfrm>
            <a:custGeom>
              <a:avLst/>
              <a:gdLst>
                <a:gd name="textAreaLeft" fmla="*/ 0 w 3087720"/>
                <a:gd name="textAreaRight" fmla="*/ 3088080 w 3087720"/>
                <a:gd name="textAreaTop" fmla="*/ 0 h 2619000"/>
                <a:gd name="textAreaBottom" fmla="*/ 2619360 h 26190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rgbClr val="708090">
                <a:alpha val="10000"/>
              </a:srgbClr>
            </a:solidFill>
            <a:ln w="13094">
              <a:noFill/>
            </a:ln>
            <a:effectLst>
              <a:outerShdw algn="ctr" blurRad="50760" rotWithShape="0" sx="102000" sy="102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4" name="TextBox 65"/>
            <p:cNvSpPr/>
            <p:nvPr/>
          </p:nvSpPr>
          <p:spPr>
            <a:xfrm>
              <a:off x="5963040" y="265176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pic>
          <p:nvPicPr>
            <p:cNvPr id="75" name=""/>
            <p:cNvPicPr/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/>
          </p:blipFill>
          <p:spPr>
            <a:xfrm>
              <a:off x="5697000" y="16149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6" name="Freeform: Shape 30"/>
            <p:cNvSpPr/>
            <p:nvPr/>
          </p:nvSpPr>
          <p:spPr>
            <a:xfrm>
              <a:off x="5238000" y="317628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chemeClr val="bg1"/>
            </a:solidFill>
            <a:ln w="52375">
              <a:solidFill>
                <a:srgbClr val="FFFFFF"/>
              </a:solidFill>
              <a:miter/>
            </a:ln>
            <a:effectLst>
              <a:outerShdw algn="ctr" blurRad="63360" rotWithShape="0" sx="102000" sy="102000">
                <a:srgbClr val="000000">
                  <a:alpha val="32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grpSp>
          <p:nvGrpSpPr>
            <p:cNvPr id="77" name="Group 60"/>
            <p:cNvGrpSpPr/>
            <p:nvPr/>
          </p:nvGrpSpPr>
          <p:grpSpPr>
            <a:xfrm>
              <a:off x="1639800" y="1632960"/>
              <a:ext cx="2144880" cy="4646520"/>
              <a:chOff x="1639800" y="1632960"/>
              <a:chExt cx="2144880" cy="4646520"/>
            </a:xfrm>
          </p:grpSpPr>
          <p:sp>
            <p:nvSpPr>
              <p:cNvPr id="78" name="TextBox 45"/>
              <p:cNvSpPr/>
              <p:nvPr/>
            </p:nvSpPr>
            <p:spPr>
              <a:xfrm>
                <a:off x="1639800" y="5419440"/>
                <a:ext cx="2144880" cy="86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Future-proof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Models evolve rapidly, flexible architecture can adapt to better models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" name="TextBox 46"/>
              <p:cNvSpPr/>
              <p:nvPr/>
            </p:nvSpPr>
            <p:spPr>
              <a:xfrm>
                <a:off x="1639800" y="3590640"/>
                <a:ext cx="2144880" cy="10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Cost optimization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Route simple tasks to cheaper models, benchmark multiple models and shift usage accordingly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TextBox 47"/>
              <p:cNvSpPr/>
              <p:nvPr/>
            </p:nvSpPr>
            <p:spPr>
              <a:xfrm>
                <a:off x="1639800" y="1632960"/>
                <a:ext cx="2144880" cy="859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Governance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Provide consistent governance, apply uniform safety filters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" name="Freeform: Shape 53"/>
            <p:cNvSpPr/>
            <p:nvPr/>
          </p:nvSpPr>
          <p:spPr>
            <a:xfrm>
              <a:off x="1155960" y="194184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D62E4E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2" name="Freeform: Shape 54"/>
            <p:cNvSpPr/>
            <p:nvPr/>
          </p:nvSpPr>
          <p:spPr>
            <a:xfrm>
              <a:off x="1120680" y="380736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FF972F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3" name="Freeform: Shape 55"/>
            <p:cNvSpPr/>
            <p:nvPr/>
          </p:nvSpPr>
          <p:spPr>
            <a:xfrm>
              <a:off x="1062360" y="572868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FFD428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grpSp>
          <p:nvGrpSpPr>
            <p:cNvPr id="84" name="Group 62"/>
            <p:cNvGrpSpPr/>
            <p:nvPr/>
          </p:nvGrpSpPr>
          <p:grpSpPr>
            <a:xfrm>
              <a:off x="8386560" y="1632960"/>
              <a:ext cx="2144880" cy="4739040"/>
              <a:chOff x="8386560" y="1632960"/>
              <a:chExt cx="2144880" cy="4739040"/>
            </a:xfrm>
          </p:grpSpPr>
          <p:sp>
            <p:nvSpPr>
              <p:cNvPr id="85" name="TextBox 42"/>
              <p:cNvSpPr/>
              <p:nvPr/>
            </p:nvSpPr>
            <p:spPr>
              <a:xfrm>
                <a:off x="8386560" y="1632960"/>
                <a:ext cx="2144880" cy="1042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Prevent lock-in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Switch vendors without major code rewrites, sudden cost surges, performance regressions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TextBox 43"/>
              <p:cNvSpPr/>
              <p:nvPr/>
            </p:nvSpPr>
            <p:spPr>
              <a:xfrm>
                <a:off x="8386560" y="3590640"/>
                <a:ext cx="2144880" cy="86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Flexibility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Select the most cost-effective, fast, or accurate model for each task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TextBox 44"/>
              <p:cNvSpPr/>
              <p:nvPr/>
            </p:nvSpPr>
            <p:spPr>
              <a:xfrm>
                <a:off x="8386560" y="5511960"/>
                <a:ext cx="2144880" cy="86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Resilience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System is less vulnerable to outages, behavior changes, performance degradation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" name="Freeform: Shape 56"/>
            <p:cNvSpPr/>
            <p:nvPr/>
          </p:nvSpPr>
          <p:spPr>
            <a:xfrm>
              <a:off x="10839240" y="189504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6495ED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9" name="Freeform: Shape 57"/>
            <p:cNvSpPr/>
            <p:nvPr/>
          </p:nvSpPr>
          <p:spPr>
            <a:xfrm>
              <a:off x="10803960" y="385272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1C99E0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0" name="Freeform: Shape 58"/>
            <p:cNvSpPr/>
            <p:nvPr/>
          </p:nvSpPr>
          <p:spPr>
            <a:xfrm>
              <a:off x="10745640" y="568152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chemeClr val="accent2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1" name="TextBox 1"/>
            <p:cNvSpPr/>
            <p:nvPr/>
          </p:nvSpPr>
          <p:spPr>
            <a:xfrm>
              <a:off x="6997680" y="323244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02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2" name="TextBox 2"/>
            <p:cNvSpPr/>
            <p:nvPr/>
          </p:nvSpPr>
          <p:spPr>
            <a:xfrm>
              <a:off x="4938840" y="324756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06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3" name="TextBox 3"/>
            <p:cNvSpPr/>
            <p:nvPr/>
          </p:nvSpPr>
          <p:spPr>
            <a:xfrm>
              <a:off x="6997680" y="436608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03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4" name="TextBox 4"/>
            <p:cNvSpPr/>
            <p:nvPr/>
          </p:nvSpPr>
          <p:spPr>
            <a:xfrm>
              <a:off x="5977800" y="496620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04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5" name="TextBox 5"/>
            <p:cNvSpPr/>
            <p:nvPr/>
          </p:nvSpPr>
          <p:spPr>
            <a:xfrm>
              <a:off x="4949280" y="438552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pic>
          <p:nvPicPr>
            <p:cNvPr id="96" name=""/>
            <p:cNvPicPr/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7250400" y="26031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7" name=""/>
            <p:cNvPicPr/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5712120" y="531900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8" name=""/>
            <p:cNvPicPr/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/>
          </p:blipFill>
          <p:spPr>
            <a:xfrm>
              <a:off x="4116240" y="445752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9" name=""/>
            <p:cNvPicPr/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/>
          </p:blipFill>
          <p:spPr>
            <a:xfrm>
              <a:off x="4150440" y="256212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0" name=""/>
            <p:cNvPicPr/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/>
          </p:blipFill>
          <p:spPr>
            <a:xfrm>
              <a:off x="5698800" y="35157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1" name=""/>
            <p:cNvPicPr/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/>
          </p:blipFill>
          <p:spPr>
            <a:xfrm>
              <a:off x="7250400" y="440820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Custom 11">
      <a:dk1>
        <a:srgbClr val="000000"/>
      </a:dk1>
      <a:lt1>
        <a:srgbClr val="FFFFFF"/>
      </a:lt1>
      <a:dk2>
        <a:srgbClr val="44546A"/>
      </a:dk2>
      <a:lt2>
        <a:srgbClr val="EE6F10"/>
      </a:lt2>
      <a:accent1>
        <a:srgbClr val="01BBC2"/>
      </a:accent1>
      <a:accent2>
        <a:srgbClr val="A2CD37"/>
      </a:accent2>
      <a:accent3>
        <a:srgbClr val="00B0F0"/>
      </a:accent3>
      <a:accent4>
        <a:srgbClr val="FD6D67"/>
      </a:accent4>
      <a:accent5>
        <a:srgbClr val="EAA31B"/>
      </a:accent5>
      <a:accent6>
        <a:srgbClr val="934584"/>
      </a:accent6>
      <a:hlink>
        <a:srgbClr val="BF2424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LibreOffice/26.2.1.2$MacOSX_AARCH64 LibreOffice_project/8399f6259d8c87f40e7255cdb3c9b958f5e08948</Application>
  <AppVersion>15.0000</AppVersion>
  <Words>68</Words>
  <Paragraphs>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2023-09-28T07:10:26Z</dcterms:created>
  <dc:creator>Deckzi</dc:creator>
  <dc:description/>
  <dc:language>en-US</dc:language>
  <cp:lastModifiedBy/>
  <dcterms:modified xsi:type="dcterms:W3CDTF">2026-07-20T23:17:57Z</dcterms:modified>
  <cp:revision>10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