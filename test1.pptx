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svg" ContentType="image/svg"/>
  <Override PartName="/ppt/media/image12.svg" ContentType="image/svg"/>
  <Override PartName="/ppt/media/image14.svg" ContentType="image/svg"/>
  <Override PartName="/ppt/media/image6.svg" ContentType="image/svg"/>
  <Override PartName="/ppt/media/image8.svg" ContentType="image/svg"/>
  <Override PartName="/ppt/media/image10.svg" ContentType="image/svg"/>
  <Override PartName="/ppt/media/image2.svg" ContentType="image/svg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5D8F4C4-6DD8-4C99-BCAC-E200DE0225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Avoidance of Vendor Lock‑In​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Many resources emphasize that being tied to one provider creates risk and dependency.​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LLM‑agnostic systems allow organizations to switch providers without major rewrites, avoiding sudden cost changes, API deprecations, or performance regressions.​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Flexibility to Choose the Best Model for Each Task​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Agnostic systems allow selecting the most cost‑effective, fastest, or most accurate model per workload.​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includes dynamically routing tasks (e.g., summarization vs. coding) to different models.​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Increased System Resilience​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not depending on a single model's uptime or stability, systems become more resilient to: 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outages,​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sudden behavior changes,​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performance degradation.​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Future‑Proofing Against Rapid AI Evolution​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Multiple entries highlight that models are evolving quickly.​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LLM‑agnostic architecture ensures systems can adopt better or cheaper models without architectural redesign.​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Improved Cost Optimization​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Agnostic architectures enable organizations to:​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route tasks to cheaper models when quality needs are lower,​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benchmark multiple providers and shift usage accordingly.​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10. Enhanced Safety, Governance, and Consistency​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summaries include references to LLM‑agnostic gateways and filtering layers that: 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 consistent governance​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apply uniform safety filters​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validate outputs independent of the model used​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66B63D-EDA3-4BA3-8444-D1E26B88C4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3186B4-2708-4D9B-B029-DDAF059984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A1612F-A62A-4BE0-8314-9A4E63ED1A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1864BC-E085-42DE-9803-4033BC81B5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A36E06-1ACA-4B1F-9F7B-180802D038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1FEA2C-0EFE-46A1-B17D-327B067D22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46CFEE-267A-46DF-8424-7680B59C92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3546F4-FF54-407A-872D-C5E77803FF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63BAEF-D431-4333-AA89-556524BFC6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A4956F-0AAA-4075-A336-4E3294C61C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E7D9C5-84C5-46F0-817E-5A1B205E94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svg"/><Relationship Id="rId11" Type="http://schemas.openxmlformats.org/officeDocument/2006/relationships/image" Target="../media/image11.png"/><Relationship Id="rId12" Type="http://schemas.openxmlformats.org/officeDocument/2006/relationships/image" Target="../media/image12.svg"/><Relationship Id="rId13" Type="http://schemas.openxmlformats.org/officeDocument/2006/relationships/image" Target="../media/image13.png"/><Relationship Id="rId14" Type="http://schemas.openxmlformats.org/officeDocument/2006/relationships/image" Target="../media/image14.svg"/><Relationship Id="rId15" Type="http://schemas.openxmlformats.org/officeDocument/2006/relationships/slideLayout" Target="../slideLayouts/slideLayout9.xml"/><Relationship Id="rId16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71"/>
          <p:cNvSpPr/>
          <p:nvPr/>
        </p:nvSpPr>
        <p:spPr>
          <a:xfrm>
            <a:off x="0" y="537120"/>
            <a:ext cx="121917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95959"/>
                </a:solidFill>
                <a:effectLst/>
                <a:uFillTx/>
                <a:latin typeface="Montserrat"/>
              </a:rPr>
              <a:t>Data Cleansing Types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" name="Group 74"/>
          <p:cNvGrpSpPr/>
          <p:nvPr/>
        </p:nvGrpSpPr>
        <p:grpSpPr>
          <a:xfrm>
            <a:off x="1062360" y="1386000"/>
            <a:ext cx="10067040" cy="5149800"/>
            <a:chOff x="1062360" y="1386000"/>
            <a:chExt cx="10067040" cy="5149800"/>
          </a:xfrm>
        </p:grpSpPr>
        <p:sp>
          <p:nvSpPr>
            <p:cNvPr id="67" name="Freeform: Shape 12"/>
            <p:cNvSpPr/>
            <p:nvPr/>
          </p:nvSpPr>
          <p:spPr>
            <a:xfrm>
              <a:off x="3662640" y="2247840"/>
              <a:ext cx="1835640" cy="1589760"/>
            </a:xfrm>
            <a:custGeom>
              <a:avLst/>
              <a:gdLst>
                <a:gd name="textAreaLeft" fmla="*/ 0 w 1835640"/>
                <a:gd name="textAreaRight" fmla="*/ 1836000 w 1835640"/>
                <a:gd name="textAreaTop" fmla="*/ 0 h 1589760"/>
                <a:gd name="textAreaBottom" fmla="*/ 1590120 h 1589760"/>
                <a:gd name="GluePoint1X" fmla="*/ 459025 w 1836100"/>
                <a:gd name="GluePoint1Y" fmla="*/ 1590063 h 1590062"/>
                <a:gd name="GluePoint2X" fmla="*/ 0 w 1836100"/>
                <a:gd name="GluePoint2Y" fmla="*/ 795031 h 1590062"/>
                <a:gd name="GluePoint3X" fmla="*/ 459025 w 1836100"/>
                <a:gd name="GluePoint3Y" fmla="*/ 0 h 1590062"/>
                <a:gd name="GluePoint4X" fmla="*/ 1377075 w 1836100"/>
                <a:gd name="GluePoint4Y" fmla="*/ 0 h 1590062"/>
                <a:gd name="GluePoint5X" fmla="*/ 1836100 w 1836100"/>
                <a:gd name="GluePoint5Y" fmla="*/ 795031 h 1590062"/>
                <a:gd name="GluePoint6X" fmla="*/ 1377075 w 1836100"/>
                <a:gd name="GluePoint6Y" fmla="*/ 1590063 h 1590062"/>
                <a:gd name="GluePoint7X" fmla="*/ 459025 w 1836100"/>
                <a:gd name="GluePoint7Y" fmla="*/ 1590063 h 15900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836100" h="1590062">
                  <a:moveTo>
                    <a:pt x="459025" y="1590063"/>
                  </a:moveTo>
                  <a:lnTo>
                    <a:pt x="0" y="795031"/>
                  </a:lnTo>
                  <a:lnTo>
                    <a:pt x="459025" y="0"/>
                  </a:lnTo>
                  <a:lnTo>
                    <a:pt x="1377075" y="0"/>
                  </a:lnTo>
                  <a:lnTo>
                    <a:pt x="1836100" y="795031"/>
                  </a:lnTo>
                  <a:lnTo>
                    <a:pt x="1377075" y="1590063"/>
                  </a:lnTo>
                  <a:lnTo>
                    <a:pt x="459025" y="1590063"/>
                  </a:lnTo>
                  <a:close/>
                </a:path>
              </a:pathLst>
            </a:custGeom>
            <a:solidFill>
              <a:srgbClr val="D62E4E"/>
            </a:solidFill>
            <a:ln w="13094">
              <a:solidFill>
                <a:srgbClr val="D62E4E"/>
              </a:solidFill>
              <a:miter/>
            </a:ln>
            <a:effectLst>
              <a:outerShdw algn="ctr" blurRad="50760" rotWithShape="0" sx="102000" sy="102000">
                <a:srgbClr val="000000">
                  <a:alpha val="1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8" name="Freeform: Shape 21"/>
            <p:cNvSpPr/>
            <p:nvPr/>
          </p:nvSpPr>
          <p:spPr>
            <a:xfrm>
              <a:off x="3662640" y="4084200"/>
              <a:ext cx="1835640" cy="1589760"/>
            </a:xfrm>
            <a:custGeom>
              <a:avLst/>
              <a:gdLst>
                <a:gd name="textAreaLeft" fmla="*/ 0 w 1835640"/>
                <a:gd name="textAreaRight" fmla="*/ 1836000 w 1835640"/>
                <a:gd name="textAreaTop" fmla="*/ 0 h 1589760"/>
                <a:gd name="textAreaBottom" fmla="*/ 1590120 h 1589760"/>
                <a:gd name="GluePoint1X" fmla="*/ 459025 w 1836100"/>
                <a:gd name="GluePoint1Y" fmla="*/ 1590063 h 1590062"/>
                <a:gd name="GluePoint2X" fmla="*/ 0 w 1836100"/>
                <a:gd name="GluePoint2Y" fmla="*/ 795032 h 1590062"/>
                <a:gd name="GluePoint3X" fmla="*/ 459025 w 1836100"/>
                <a:gd name="GluePoint3Y" fmla="*/ 0 h 1590062"/>
                <a:gd name="GluePoint4X" fmla="*/ 1377075 w 1836100"/>
                <a:gd name="GluePoint4Y" fmla="*/ 0 h 1590062"/>
                <a:gd name="GluePoint5X" fmla="*/ 1836100 w 1836100"/>
                <a:gd name="GluePoint5Y" fmla="*/ 795032 h 1590062"/>
                <a:gd name="GluePoint6X" fmla="*/ 1377075 w 1836100"/>
                <a:gd name="GluePoint6Y" fmla="*/ 1590063 h 1590062"/>
                <a:gd name="GluePoint7X" fmla="*/ 459025 w 1836100"/>
                <a:gd name="GluePoint7Y" fmla="*/ 1590063 h 15900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836100" h="1590062">
                  <a:moveTo>
                    <a:pt x="459025" y="1590063"/>
                  </a:moveTo>
                  <a:lnTo>
                    <a:pt x="0" y="795032"/>
                  </a:lnTo>
                  <a:lnTo>
                    <a:pt x="459025" y="0"/>
                  </a:lnTo>
                  <a:lnTo>
                    <a:pt x="1377075" y="0"/>
                  </a:lnTo>
                  <a:lnTo>
                    <a:pt x="1836100" y="795032"/>
                  </a:lnTo>
                  <a:lnTo>
                    <a:pt x="1377075" y="1590063"/>
                  </a:lnTo>
                  <a:lnTo>
                    <a:pt x="459025" y="1590063"/>
                  </a:lnTo>
                  <a:close/>
                </a:path>
              </a:pathLst>
            </a:custGeom>
            <a:solidFill>
              <a:srgbClr val="FF972F"/>
            </a:solidFill>
            <a:ln w="13094">
              <a:solidFill>
                <a:srgbClr val="EAA31B"/>
              </a:solidFill>
              <a:miter/>
            </a:ln>
            <a:effectLst>
              <a:outerShdw algn="ctr" blurRad="50760" rotWithShape="0" sx="102000" sy="102000">
                <a:srgbClr val="000000">
                  <a:alpha val="1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9" name="Freeform: Shape 8"/>
            <p:cNvSpPr/>
            <p:nvPr/>
          </p:nvSpPr>
          <p:spPr>
            <a:xfrm>
              <a:off x="5238000" y="4966200"/>
              <a:ext cx="1812240" cy="1569600"/>
            </a:xfrm>
            <a:custGeom>
              <a:avLst/>
              <a:gdLst>
                <a:gd name="textAreaLeft" fmla="*/ 0 w 1812240"/>
                <a:gd name="textAreaRight" fmla="*/ 1812600 w 1812240"/>
                <a:gd name="textAreaTop" fmla="*/ 0 h 1569600"/>
                <a:gd name="textAreaBottom" fmla="*/ 1569960 h 1569600"/>
                <a:gd name="GluePoint1X" fmla="*/ 453123 w 1812755"/>
                <a:gd name="GluePoint1Y" fmla="*/ 1569997 h 1569997"/>
                <a:gd name="GluePoint2X" fmla="*/ 0 w 1812755"/>
                <a:gd name="GluePoint2Y" fmla="*/ 785064 h 1569997"/>
                <a:gd name="GluePoint3X" fmla="*/ 453123 w 1812755"/>
                <a:gd name="GluePoint3Y" fmla="*/ 0 h 1569997"/>
                <a:gd name="GluePoint4X" fmla="*/ 1359632 w 1812755"/>
                <a:gd name="GluePoint4Y" fmla="*/ 0 h 1569997"/>
                <a:gd name="GluePoint5X" fmla="*/ 1812756 w 1812755"/>
                <a:gd name="GluePoint5Y" fmla="*/ 785064 h 1569997"/>
                <a:gd name="GluePoint6X" fmla="*/ 1359632 w 1812755"/>
                <a:gd name="GluePoint6Y" fmla="*/ 1569997 h 1569997"/>
                <a:gd name="GluePoint7X" fmla="*/ 453123 w 1812755"/>
                <a:gd name="GluePoint7Y" fmla="*/ 1569997 h 156999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812755" h="1569997">
                  <a:moveTo>
                    <a:pt x="453123" y="1569997"/>
                  </a:moveTo>
                  <a:lnTo>
                    <a:pt x="0" y="785064"/>
                  </a:lnTo>
                  <a:lnTo>
                    <a:pt x="453123" y="0"/>
                  </a:lnTo>
                  <a:lnTo>
                    <a:pt x="1359632" y="0"/>
                  </a:lnTo>
                  <a:lnTo>
                    <a:pt x="1812756" y="785064"/>
                  </a:lnTo>
                  <a:lnTo>
                    <a:pt x="1359632" y="1569997"/>
                  </a:lnTo>
                  <a:lnTo>
                    <a:pt x="453123" y="1569997"/>
                  </a:lnTo>
                  <a:close/>
                </a:path>
              </a:pathLst>
            </a:custGeom>
            <a:solidFill>
              <a:srgbClr val="FFD428"/>
            </a:solidFill>
            <a:ln w="13094">
              <a:solidFill>
                <a:srgbClr val="FFD428"/>
              </a:solidFill>
              <a:miter/>
            </a:ln>
            <a:effectLst>
              <a:outerShdw algn="ctr" blurRad="50760" rotWithShape="0" sx="102000" sy="102000">
                <a:srgbClr val="000000">
                  <a:alpha val="1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0" name="Freeform: Shape 25"/>
            <p:cNvSpPr/>
            <p:nvPr/>
          </p:nvSpPr>
          <p:spPr>
            <a:xfrm>
              <a:off x="6790320" y="4084200"/>
              <a:ext cx="1835640" cy="1589760"/>
            </a:xfrm>
            <a:custGeom>
              <a:avLst/>
              <a:gdLst>
                <a:gd name="textAreaLeft" fmla="*/ 0 w 1835640"/>
                <a:gd name="textAreaRight" fmla="*/ 1836000 w 1835640"/>
                <a:gd name="textAreaTop" fmla="*/ 0 h 1589760"/>
                <a:gd name="textAreaBottom" fmla="*/ 1590120 h 1589760"/>
                <a:gd name="GluePoint1X" fmla="*/ 459025 w 1836100"/>
                <a:gd name="GluePoint1Y" fmla="*/ 1590063 h 1590062"/>
                <a:gd name="GluePoint2X" fmla="*/ 0 w 1836100"/>
                <a:gd name="GluePoint2Y" fmla="*/ 795032 h 1590062"/>
                <a:gd name="GluePoint3X" fmla="*/ 459025 w 1836100"/>
                <a:gd name="GluePoint3Y" fmla="*/ 0 h 1590062"/>
                <a:gd name="GluePoint4X" fmla="*/ 1377075 w 1836100"/>
                <a:gd name="GluePoint4Y" fmla="*/ 0 h 1590062"/>
                <a:gd name="GluePoint5X" fmla="*/ 1836100 w 1836100"/>
                <a:gd name="GluePoint5Y" fmla="*/ 795032 h 1590062"/>
                <a:gd name="GluePoint6X" fmla="*/ 1377075 w 1836100"/>
                <a:gd name="GluePoint6Y" fmla="*/ 1590063 h 1590062"/>
                <a:gd name="GluePoint7X" fmla="*/ 459025 w 1836100"/>
                <a:gd name="GluePoint7Y" fmla="*/ 1590063 h 15900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836100" h="1590062">
                  <a:moveTo>
                    <a:pt x="459025" y="1590063"/>
                  </a:moveTo>
                  <a:lnTo>
                    <a:pt x="0" y="795032"/>
                  </a:lnTo>
                  <a:lnTo>
                    <a:pt x="459025" y="0"/>
                  </a:lnTo>
                  <a:lnTo>
                    <a:pt x="1377075" y="0"/>
                  </a:lnTo>
                  <a:lnTo>
                    <a:pt x="1836100" y="795032"/>
                  </a:lnTo>
                  <a:lnTo>
                    <a:pt x="1377075" y="1590063"/>
                  </a:lnTo>
                  <a:lnTo>
                    <a:pt x="459025" y="1590063"/>
                  </a:lnTo>
                  <a:close/>
                </a:path>
              </a:pathLst>
            </a:custGeom>
            <a:solidFill>
              <a:srgbClr val="A2CD37"/>
            </a:solidFill>
            <a:ln w="13094">
              <a:solidFill>
                <a:srgbClr val="A2CD37"/>
              </a:solidFill>
              <a:miter/>
            </a:ln>
            <a:effectLst>
              <a:outerShdw algn="ctr" blurRad="50760" rotWithShape="0" sx="102000" sy="102000">
                <a:srgbClr val="000000">
                  <a:alpha val="1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1" name="Freeform: Shape 17"/>
            <p:cNvSpPr/>
            <p:nvPr/>
          </p:nvSpPr>
          <p:spPr>
            <a:xfrm>
              <a:off x="6790320" y="2247840"/>
              <a:ext cx="1835640" cy="1589760"/>
            </a:xfrm>
            <a:custGeom>
              <a:avLst/>
              <a:gdLst>
                <a:gd name="textAreaLeft" fmla="*/ 0 w 1835640"/>
                <a:gd name="textAreaRight" fmla="*/ 1836000 w 1835640"/>
                <a:gd name="textAreaTop" fmla="*/ 0 h 1589760"/>
                <a:gd name="textAreaBottom" fmla="*/ 1590120 h 1589760"/>
                <a:gd name="GluePoint1X" fmla="*/ 459025 w 1836100"/>
                <a:gd name="GluePoint1Y" fmla="*/ 1590063 h 1590062"/>
                <a:gd name="GluePoint2X" fmla="*/ 0 w 1836100"/>
                <a:gd name="GluePoint2Y" fmla="*/ 795031 h 1590062"/>
                <a:gd name="GluePoint3X" fmla="*/ 459025 w 1836100"/>
                <a:gd name="GluePoint3Y" fmla="*/ 0 h 1590062"/>
                <a:gd name="GluePoint4X" fmla="*/ 1377075 w 1836100"/>
                <a:gd name="GluePoint4Y" fmla="*/ 0 h 1590062"/>
                <a:gd name="GluePoint5X" fmla="*/ 1836100 w 1836100"/>
                <a:gd name="GluePoint5Y" fmla="*/ 795031 h 1590062"/>
                <a:gd name="GluePoint6X" fmla="*/ 1377075 w 1836100"/>
                <a:gd name="GluePoint6Y" fmla="*/ 1590063 h 1590062"/>
                <a:gd name="GluePoint7X" fmla="*/ 459025 w 1836100"/>
                <a:gd name="GluePoint7Y" fmla="*/ 1590063 h 15900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836100" h="1590062">
                  <a:moveTo>
                    <a:pt x="459025" y="1590063"/>
                  </a:moveTo>
                  <a:lnTo>
                    <a:pt x="0" y="795031"/>
                  </a:lnTo>
                  <a:lnTo>
                    <a:pt x="459025" y="0"/>
                  </a:lnTo>
                  <a:lnTo>
                    <a:pt x="1377075" y="0"/>
                  </a:lnTo>
                  <a:lnTo>
                    <a:pt x="1836100" y="795031"/>
                  </a:lnTo>
                  <a:lnTo>
                    <a:pt x="1377075" y="1590063"/>
                  </a:lnTo>
                  <a:lnTo>
                    <a:pt x="459025" y="1590063"/>
                  </a:lnTo>
                  <a:close/>
                </a:path>
              </a:pathLst>
            </a:custGeom>
            <a:solidFill>
              <a:srgbClr val="1C99E0"/>
            </a:solidFill>
            <a:ln w="13094">
              <a:solidFill>
                <a:srgbClr val="1C99E0"/>
              </a:solidFill>
              <a:miter/>
            </a:ln>
            <a:effectLst>
              <a:outerShdw algn="ctr" blurRad="50760" rotWithShape="0" sx="102000" sy="102000">
                <a:srgbClr val="000000">
                  <a:alpha val="1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2" name="Freeform: Shape 4"/>
            <p:cNvSpPr/>
            <p:nvPr/>
          </p:nvSpPr>
          <p:spPr>
            <a:xfrm>
              <a:off x="5238000" y="1386000"/>
              <a:ext cx="1812240" cy="1569600"/>
            </a:xfrm>
            <a:custGeom>
              <a:avLst/>
              <a:gdLst>
                <a:gd name="textAreaLeft" fmla="*/ 0 w 1812240"/>
                <a:gd name="textAreaRight" fmla="*/ 1812600 w 1812240"/>
                <a:gd name="textAreaTop" fmla="*/ 0 h 1569600"/>
                <a:gd name="textAreaBottom" fmla="*/ 1569960 h 1569600"/>
                <a:gd name="GluePoint1X" fmla="*/ 453123 w 1812755"/>
                <a:gd name="GluePoint1Y" fmla="*/ 1569866 h 1569865"/>
                <a:gd name="GluePoint2X" fmla="*/ 0 w 1812755"/>
                <a:gd name="GluePoint2Y" fmla="*/ 784933 h 1569865"/>
                <a:gd name="GluePoint3X" fmla="*/ 453123 w 1812755"/>
                <a:gd name="GluePoint3Y" fmla="*/ 0 h 1569865"/>
                <a:gd name="GluePoint4X" fmla="*/ 1359632 w 1812755"/>
                <a:gd name="GluePoint4Y" fmla="*/ 0 h 1569865"/>
                <a:gd name="GluePoint5X" fmla="*/ 1812756 w 1812755"/>
                <a:gd name="GluePoint5Y" fmla="*/ 784933 h 1569865"/>
                <a:gd name="GluePoint6X" fmla="*/ 1359632 w 1812755"/>
                <a:gd name="GluePoint6Y" fmla="*/ 1569866 h 1569865"/>
                <a:gd name="GluePoint7X" fmla="*/ 453123 w 1812755"/>
                <a:gd name="GluePoint7Y" fmla="*/ 1569866 h 15698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812755" h="1569865">
                  <a:moveTo>
                    <a:pt x="453123" y="1569866"/>
                  </a:moveTo>
                  <a:lnTo>
                    <a:pt x="0" y="784933"/>
                  </a:lnTo>
                  <a:lnTo>
                    <a:pt x="453123" y="0"/>
                  </a:lnTo>
                  <a:lnTo>
                    <a:pt x="1359632" y="0"/>
                  </a:lnTo>
                  <a:lnTo>
                    <a:pt x="1812756" y="784933"/>
                  </a:lnTo>
                  <a:lnTo>
                    <a:pt x="1359632" y="1569866"/>
                  </a:lnTo>
                  <a:lnTo>
                    <a:pt x="453123" y="1569866"/>
                  </a:lnTo>
                  <a:close/>
                </a:path>
              </a:pathLst>
            </a:custGeom>
            <a:solidFill>
              <a:srgbClr val="6495ED"/>
            </a:solidFill>
            <a:ln w="13094">
              <a:solidFill>
                <a:srgbClr val="6495ED"/>
              </a:solidFill>
              <a:miter/>
            </a:ln>
            <a:effectLst>
              <a:outerShdw algn="ctr" blurRad="50760" rotWithShape="0" sx="102000" sy="102000">
                <a:srgbClr val="000000">
                  <a:alpha val="1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" name="Freeform: Shape 1"/>
            <p:cNvSpPr/>
            <p:nvPr/>
          </p:nvSpPr>
          <p:spPr>
            <a:xfrm>
              <a:off x="4594680" y="2670120"/>
              <a:ext cx="3087720" cy="2619000"/>
            </a:xfrm>
            <a:custGeom>
              <a:avLst/>
              <a:gdLst>
                <a:gd name="textAreaLeft" fmla="*/ 0 w 3087720"/>
                <a:gd name="textAreaRight" fmla="*/ 3088080 w 3087720"/>
                <a:gd name="textAreaTop" fmla="*/ 0 h 2619000"/>
                <a:gd name="textAreaBottom" fmla="*/ 2619360 h 2619000"/>
                <a:gd name="GluePoint1X" fmla="*/ 453123 w 1812755"/>
                <a:gd name="GluePoint1Y" fmla="*/ 1569866 h 1569865"/>
                <a:gd name="GluePoint2X" fmla="*/ 0 w 1812755"/>
                <a:gd name="GluePoint2Y" fmla="*/ 784933 h 1569865"/>
                <a:gd name="GluePoint3X" fmla="*/ 453123 w 1812755"/>
                <a:gd name="GluePoint3Y" fmla="*/ 0 h 1569865"/>
                <a:gd name="GluePoint4X" fmla="*/ 1359632 w 1812755"/>
                <a:gd name="GluePoint4Y" fmla="*/ 0 h 1569865"/>
                <a:gd name="GluePoint5X" fmla="*/ 1812756 w 1812755"/>
                <a:gd name="GluePoint5Y" fmla="*/ 784933 h 1569865"/>
                <a:gd name="GluePoint6X" fmla="*/ 1359632 w 1812755"/>
                <a:gd name="GluePoint6Y" fmla="*/ 1569866 h 1569865"/>
                <a:gd name="GluePoint7X" fmla="*/ 453123 w 1812755"/>
                <a:gd name="GluePoint7Y" fmla="*/ 1569866 h 15698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812755" h="1569865">
                  <a:moveTo>
                    <a:pt x="453123" y="1569866"/>
                  </a:moveTo>
                  <a:lnTo>
                    <a:pt x="0" y="784933"/>
                  </a:lnTo>
                  <a:lnTo>
                    <a:pt x="453123" y="0"/>
                  </a:lnTo>
                  <a:lnTo>
                    <a:pt x="1359632" y="0"/>
                  </a:lnTo>
                  <a:lnTo>
                    <a:pt x="1812756" y="784933"/>
                  </a:lnTo>
                  <a:lnTo>
                    <a:pt x="1359632" y="1569866"/>
                  </a:lnTo>
                  <a:lnTo>
                    <a:pt x="453123" y="1569866"/>
                  </a:lnTo>
                  <a:close/>
                </a:path>
              </a:pathLst>
            </a:custGeom>
            <a:solidFill>
              <a:srgbClr val="708090">
                <a:alpha val="10000"/>
              </a:srgbClr>
            </a:solidFill>
            <a:ln w="13094">
              <a:noFill/>
            </a:ln>
            <a:effectLst>
              <a:outerShdw algn="ctr" blurRad="50760" rotWithShape="0" sx="102000" sy="102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4" name="TextBox 65"/>
            <p:cNvSpPr/>
            <p:nvPr/>
          </p:nvSpPr>
          <p:spPr>
            <a:xfrm>
              <a:off x="5963040" y="2651760"/>
              <a:ext cx="3607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1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01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75" name="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/>
          </p:blipFill>
          <p:spPr>
            <a:xfrm>
              <a:off x="5697000" y="1614960"/>
              <a:ext cx="914400" cy="914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6" name="Freeform: Shape 30"/>
            <p:cNvSpPr/>
            <p:nvPr/>
          </p:nvSpPr>
          <p:spPr>
            <a:xfrm>
              <a:off x="5238000" y="3176280"/>
              <a:ext cx="1812240" cy="1569600"/>
            </a:xfrm>
            <a:custGeom>
              <a:avLst/>
              <a:gdLst>
                <a:gd name="textAreaLeft" fmla="*/ 0 w 1812240"/>
                <a:gd name="textAreaRight" fmla="*/ 1812600 w 1812240"/>
                <a:gd name="textAreaTop" fmla="*/ 0 h 1569600"/>
                <a:gd name="textAreaBottom" fmla="*/ 1569960 h 1569600"/>
                <a:gd name="GluePoint1X" fmla="*/ 453123 w 1812755"/>
                <a:gd name="GluePoint1Y" fmla="*/ 1569866 h 1569865"/>
                <a:gd name="GluePoint2X" fmla="*/ 0 w 1812755"/>
                <a:gd name="GluePoint2Y" fmla="*/ 784933 h 1569865"/>
                <a:gd name="GluePoint3X" fmla="*/ 453123 w 1812755"/>
                <a:gd name="GluePoint3Y" fmla="*/ 0 h 1569865"/>
                <a:gd name="GluePoint4X" fmla="*/ 1359632 w 1812755"/>
                <a:gd name="GluePoint4Y" fmla="*/ 0 h 1569865"/>
                <a:gd name="GluePoint5X" fmla="*/ 1812756 w 1812755"/>
                <a:gd name="GluePoint5Y" fmla="*/ 784933 h 1569865"/>
                <a:gd name="GluePoint6X" fmla="*/ 1359632 w 1812755"/>
                <a:gd name="GluePoint6Y" fmla="*/ 1569866 h 1569865"/>
                <a:gd name="GluePoint7X" fmla="*/ 453123 w 1812755"/>
                <a:gd name="GluePoint7Y" fmla="*/ 1569866 h 15698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812755" h="1569865">
                  <a:moveTo>
                    <a:pt x="453123" y="1569866"/>
                  </a:moveTo>
                  <a:lnTo>
                    <a:pt x="0" y="784933"/>
                  </a:lnTo>
                  <a:lnTo>
                    <a:pt x="453123" y="0"/>
                  </a:lnTo>
                  <a:lnTo>
                    <a:pt x="1359632" y="0"/>
                  </a:lnTo>
                  <a:lnTo>
                    <a:pt x="1812756" y="784933"/>
                  </a:lnTo>
                  <a:lnTo>
                    <a:pt x="1359632" y="1569866"/>
                  </a:lnTo>
                  <a:lnTo>
                    <a:pt x="453123" y="1569866"/>
                  </a:lnTo>
                  <a:close/>
                </a:path>
              </a:pathLst>
            </a:custGeom>
            <a:solidFill>
              <a:schemeClr val="bg1"/>
            </a:solidFill>
            <a:ln w="52375">
              <a:solidFill>
                <a:srgbClr val="FFFFFF"/>
              </a:solidFill>
              <a:miter/>
            </a:ln>
            <a:effectLst>
              <a:outerShdw algn="ctr" blurRad="63360" rotWithShape="0" sx="102000" sy="102000">
                <a:srgbClr val="000000">
                  <a:alpha val="32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77" name="Group 60"/>
            <p:cNvGrpSpPr/>
            <p:nvPr/>
          </p:nvGrpSpPr>
          <p:grpSpPr>
            <a:xfrm>
              <a:off x="1639800" y="1632960"/>
              <a:ext cx="2144880" cy="4828680"/>
              <a:chOff x="1639800" y="1632960"/>
              <a:chExt cx="2144880" cy="4828680"/>
            </a:xfrm>
          </p:grpSpPr>
          <p:sp>
            <p:nvSpPr>
              <p:cNvPr id="78" name="TextBox 45"/>
              <p:cNvSpPr/>
              <p:nvPr/>
            </p:nvSpPr>
            <p:spPr>
              <a:xfrm>
                <a:off x="1639800" y="5419440"/>
                <a:ext cx="2144880" cy="1042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Bef>
                    <a:spcPts val="300"/>
                  </a:spcBef>
                  <a:tabLst>
                    <a:tab pos="0" algn="l"/>
                  </a:tabLst>
                </a:pPr>
                <a:r>
                  <a:rPr lang="en-US" sz="1200" b="1" u="none" strike="noStrike">
                    <a:solidFill>
                      <a:srgbClr val="595959"/>
                    </a:solidFill>
                    <a:effectLst/>
                    <a:uFillTx/>
                    <a:latin typeface="Montserrat"/>
                  </a:rPr>
                  <a:t>Future-proof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spcBef>
                    <a:spcPts val="300"/>
                  </a:spcBef>
                  <a:tabLst>
                    <a:tab pos="0" algn="l"/>
                  </a:tabLst>
                </a:pPr>
                <a:r>
                  <a:rPr lang="en-US" sz="1200" b="0" u="none" strike="noStrike">
                    <a:solidFill>
                      <a:srgbClr val="595959"/>
                    </a:solidFill>
                    <a:effectLst/>
                    <a:uFillTx/>
                    <a:latin typeface="Montserrat"/>
                  </a:rPr>
                  <a:t>Models evolve rapidly, agnostic architecture can adapt to better/cheaper models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TextBox 46"/>
              <p:cNvSpPr/>
              <p:nvPr/>
            </p:nvSpPr>
            <p:spPr>
              <a:xfrm>
                <a:off x="1639800" y="3590640"/>
                <a:ext cx="2144880" cy="10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Bef>
                    <a:spcPts val="300"/>
                  </a:spcBef>
                  <a:tabLst>
                    <a:tab pos="0" algn="l"/>
                  </a:tabLst>
                </a:pPr>
                <a:r>
                  <a:rPr lang="en-US" sz="1200" b="1" u="none" strike="noStrike">
                    <a:solidFill>
                      <a:srgbClr val="595959"/>
                    </a:solidFill>
                    <a:effectLst/>
                    <a:uFillTx/>
                    <a:latin typeface="Montserrat"/>
                  </a:rPr>
                  <a:t>Cost optimization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spcBef>
                    <a:spcPts val="300"/>
                  </a:spcBef>
                  <a:tabLst>
                    <a:tab pos="0" algn="l"/>
                  </a:tabLst>
                </a:pPr>
                <a:r>
                  <a:rPr lang="en-US" sz="1200" b="0" u="none" strike="noStrike">
                    <a:solidFill>
                      <a:srgbClr val="595959"/>
                    </a:solidFill>
                    <a:effectLst/>
                    <a:uFillTx/>
                    <a:latin typeface="Montserrat"/>
                  </a:rPr>
                  <a:t>Route simple tasks to cheaper models, benchmark multiple models and shift usage accordingly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TextBox 47"/>
              <p:cNvSpPr/>
              <p:nvPr/>
            </p:nvSpPr>
            <p:spPr>
              <a:xfrm>
                <a:off x="1639800" y="1632960"/>
                <a:ext cx="2144880" cy="859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Bef>
                    <a:spcPts val="300"/>
                  </a:spcBef>
                  <a:tabLst>
                    <a:tab pos="0" algn="l"/>
                  </a:tabLst>
                </a:pPr>
                <a:r>
                  <a:rPr lang="en-US" sz="1200" b="1" u="none" strike="noStrike">
                    <a:solidFill>
                      <a:srgbClr val="595959"/>
                    </a:solidFill>
                    <a:effectLst/>
                    <a:uFillTx/>
                    <a:latin typeface="Montserrat"/>
                  </a:rPr>
                  <a:t>Governance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spcBef>
                    <a:spcPts val="300"/>
                  </a:spcBef>
                  <a:tabLst>
                    <a:tab pos="0" algn="l"/>
                  </a:tabLst>
                </a:pPr>
                <a:r>
                  <a:rPr lang="en-US" sz="1200" b="0" u="none" strike="noStrike">
                    <a:solidFill>
                      <a:srgbClr val="595959"/>
                    </a:solidFill>
                    <a:effectLst/>
                    <a:uFillTx/>
                    <a:latin typeface="Montserrat"/>
                  </a:rPr>
                  <a:t>Provide consistent governance, apply uniform safety filters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" name="Freeform: Shape 53"/>
            <p:cNvSpPr/>
            <p:nvPr/>
          </p:nvSpPr>
          <p:spPr>
            <a:xfrm>
              <a:off x="1155960" y="1941840"/>
              <a:ext cx="290160" cy="251280"/>
            </a:xfrm>
            <a:custGeom>
              <a:avLst/>
              <a:gdLst>
                <a:gd name="textAreaLeft" fmla="*/ 0 w 290160"/>
                <a:gd name="textAreaRight" fmla="*/ 290520 w 290160"/>
                <a:gd name="textAreaTop" fmla="*/ 0 h 251280"/>
                <a:gd name="textAreaBottom" fmla="*/ 251640 h 251280"/>
                <a:gd name="GluePoint1X" fmla="*/ 350564 w 1401862"/>
                <a:gd name="GluePoint1Y" fmla="*/ 1214056 h 1214055"/>
                <a:gd name="GluePoint2X" fmla="*/ 0 w 1401862"/>
                <a:gd name="GluePoint2Y" fmla="*/ 607094 h 1214055"/>
                <a:gd name="GluePoint3X" fmla="*/ 350564 w 1401862"/>
                <a:gd name="GluePoint3Y" fmla="*/ 0 h 1214055"/>
                <a:gd name="GluePoint4X" fmla="*/ 1051430 w 1401862"/>
                <a:gd name="GluePoint4Y" fmla="*/ 0 h 1214055"/>
                <a:gd name="GluePoint5X" fmla="*/ 1401863 w 1401862"/>
                <a:gd name="GluePoint5Y" fmla="*/ 607094 h 1214055"/>
                <a:gd name="GluePoint6X" fmla="*/ 1051430 w 1401862"/>
                <a:gd name="GluePoint6Y" fmla="*/ 1214056 h 1214055"/>
                <a:gd name="GluePoint7X" fmla="*/ 350564 w 1401862"/>
                <a:gd name="GluePoint7Y" fmla="*/ 1214056 h 12140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401862" h="1214055">
                  <a:moveTo>
                    <a:pt x="350564" y="1214056"/>
                  </a:moveTo>
                  <a:lnTo>
                    <a:pt x="0" y="607094"/>
                  </a:lnTo>
                  <a:lnTo>
                    <a:pt x="350564" y="0"/>
                  </a:lnTo>
                  <a:lnTo>
                    <a:pt x="1051430" y="0"/>
                  </a:lnTo>
                  <a:lnTo>
                    <a:pt x="1401863" y="607094"/>
                  </a:lnTo>
                  <a:lnTo>
                    <a:pt x="1051430" y="1214056"/>
                  </a:lnTo>
                  <a:lnTo>
                    <a:pt x="350564" y="1214056"/>
                  </a:lnTo>
                  <a:close/>
                </a:path>
              </a:pathLst>
            </a:custGeom>
            <a:solidFill>
              <a:srgbClr val="D62E4E"/>
            </a:solidFill>
            <a:ln w="1309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" name="Freeform: Shape 54"/>
            <p:cNvSpPr/>
            <p:nvPr/>
          </p:nvSpPr>
          <p:spPr>
            <a:xfrm>
              <a:off x="1120680" y="3807360"/>
              <a:ext cx="290160" cy="251280"/>
            </a:xfrm>
            <a:custGeom>
              <a:avLst/>
              <a:gdLst>
                <a:gd name="textAreaLeft" fmla="*/ 0 w 290160"/>
                <a:gd name="textAreaRight" fmla="*/ 290520 w 290160"/>
                <a:gd name="textAreaTop" fmla="*/ 0 h 251280"/>
                <a:gd name="textAreaBottom" fmla="*/ 251640 h 251280"/>
                <a:gd name="GluePoint1X" fmla="*/ 350564 w 1401862"/>
                <a:gd name="GluePoint1Y" fmla="*/ 1214056 h 1214055"/>
                <a:gd name="GluePoint2X" fmla="*/ 0 w 1401862"/>
                <a:gd name="GluePoint2Y" fmla="*/ 607094 h 1214055"/>
                <a:gd name="GluePoint3X" fmla="*/ 350564 w 1401862"/>
                <a:gd name="GluePoint3Y" fmla="*/ 0 h 1214055"/>
                <a:gd name="GluePoint4X" fmla="*/ 1051430 w 1401862"/>
                <a:gd name="GluePoint4Y" fmla="*/ 0 h 1214055"/>
                <a:gd name="GluePoint5X" fmla="*/ 1401863 w 1401862"/>
                <a:gd name="GluePoint5Y" fmla="*/ 607094 h 1214055"/>
                <a:gd name="GluePoint6X" fmla="*/ 1051430 w 1401862"/>
                <a:gd name="GluePoint6Y" fmla="*/ 1214056 h 1214055"/>
                <a:gd name="GluePoint7X" fmla="*/ 350564 w 1401862"/>
                <a:gd name="GluePoint7Y" fmla="*/ 1214056 h 12140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401862" h="1214055">
                  <a:moveTo>
                    <a:pt x="350564" y="1214056"/>
                  </a:moveTo>
                  <a:lnTo>
                    <a:pt x="0" y="607094"/>
                  </a:lnTo>
                  <a:lnTo>
                    <a:pt x="350564" y="0"/>
                  </a:lnTo>
                  <a:lnTo>
                    <a:pt x="1051430" y="0"/>
                  </a:lnTo>
                  <a:lnTo>
                    <a:pt x="1401863" y="607094"/>
                  </a:lnTo>
                  <a:lnTo>
                    <a:pt x="1051430" y="1214056"/>
                  </a:lnTo>
                  <a:lnTo>
                    <a:pt x="350564" y="1214056"/>
                  </a:lnTo>
                  <a:close/>
                </a:path>
              </a:pathLst>
            </a:custGeom>
            <a:solidFill>
              <a:srgbClr val="FF972F"/>
            </a:solidFill>
            <a:ln w="1309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3" name="Freeform: Shape 55"/>
            <p:cNvSpPr/>
            <p:nvPr/>
          </p:nvSpPr>
          <p:spPr>
            <a:xfrm>
              <a:off x="1062360" y="5728680"/>
              <a:ext cx="290160" cy="251280"/>
            </a:xfrm>
            <a:custGeom>
              <a:avLst/>
              <a:gdLst>
                <a:gd name="textAreaLeft" fmla="*/ 0 w 290160"/>
                <a:gd name="textAreaRight" fmla="*/ 290520 w 290160"/>
                <a:gd name="textAreaTop" fmla="*/ 0 h 251280"/>
                <a:gd name="textAreaBottom" fmla="*/ 251640 h 251280"/>
                <a:gd name="GluePoint1X" fmla="*/ 350564 w 1401862"/>
                <a:gd name="GluePoint1Y" fmla="*/ 1214056 h 1214055"/>
                <a:gd name="GluePoint2X" fmla="*/ 0 w 1401862"/>
                <a:gd name="GluePoint2Y" fmla="*/ 607094 h 1214055"/>
                <a:gd name="GluePoint3X" fmla="*/ 350564 w 1401862"/>
                <a:gd name="GluePoint3Y" fmla="*/ 0 h 1214055"/>
                <a:gd name="GluePoint4X" fmla="*/ 1051430 w 1401862"/>
                <a:gd name="GluePoint4Y" fmla="*/ 0 h 1214055"/>
                <a:gd name="GluePoint5X" fmla="*/ 1401863 w 1401862"/>
                <a:gd name="GluePoint5Y" fmla="*/ 607094 h 1214055"/>
                <a:gd name="GluePoint6X" fmla="*/ 1051430 w 1401862"/>
                <a:gd name="GluePoint6Y" fmla="*/ 1214056 h 1214055"/>
                <a:gd name="GluePoint7X" fmla="*/ 350564 w 1401862"/>
                <a:gd name="GluePoint7Y" fmla="*/ 1214056 h 12140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401862" h="1214055">
                  <a:moveTo>
                    <a:pt x="350564" y="1214056"/>
                  </a:moveTo>
                  <a:lnTo>
                    <a:pt x="0" y="607094"/>
                  </a:lnTo>
                  <a:lnTo>
                    <a:pt x="350564" y="0"/>
                  </a:lnTo>
                  <a:lnTo>
                    <a:pt x="1051430" y="0"/>
                  </a:lnTo>
                  <a:lnTo>
                    <a:pt x="1401863" y="607094"/>
                  </a:lnTo>
                  <a:lnTo>
                    <a:pt x="1051430" y="1214056"/>
                  </a:lnTo>
                  <a:lnTo>
                    <a:pt x="350564" y="1214056"/>
                  </a:lnTo>
                  <a:close/>
                </a:path>
              </a:pathLst>
            </a:custGeom>
            <a:solidFill>
              <a:srgbClr val="FFD428"/>
            </a:solidFill>
            <a:ln w="1309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84" name="Group 62"/>
            <p:cNvGrpSpPr/>
            <p:nvPr/>
          </p:nvGrpSpPr>
          <p:grpSpPr>
            <a:xfrm>
              <a:off x="8386560" y="1632960"/>
              <a:ext cx="2144880" cy="4739040"/>
              <a:chOff x="8386560" y="1632960"/>
              <a:chExt cx="2144880" cy="4739040"/>
            </a:xfrm>
          </p:grpSpPr>
          <p:sp>
            <p:nvSpPr>
              <p:cNvPr id="85" name="TextBox 42"/>
              <p:cNvSpPr/>
              <p:nvPr/>
            </p:nvSpPr>
            <p:spPr>
              <a:xfrm>
                <a:off x="8386560" y="1632960"/>
                <a:ext cx="2144880" cy="1042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Bef>
                    <a:spcPts val="300"/>
                  </a:spcBef>
                  <a:tabLst>
                    <a:tab pos="0" algn="l"/>
                  </a:tabLst>
                </a:pPr>
                <a:r>
                  <a:rPr lang="en-US" sz="1200" b="1" u="none" strike="noStrike">
                    <a:solidFill>
                      <a:srgbClr val="595959"/>
                    </a:solidFill>
                    <a:effectLst/>
                    <a:uFillTx/>
                    <a:latin typeface="Montserrat"/>
                  </a:rPr>
                  <a:t>Prevent lock-in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spcBef>
                    <a:spcPts val="300"/>
                  </a:spcBef>
                  <a:tabLst>
                    <a:tab pos="0" algn="l"/>
                  </a:tabLst>
                </a:pPr>
                <a:r>
                  <a:rPr lang="en-US" sz="1200" b="0" u="none" strike="noStrike">
                    <a:solidFill>
                      <a:srgbClr val="595959"/>
                    </a:solidFill>
                    <a:effectLst/>
                    <a:uFillTx/>
                    <a:latin typeface="Montserrat"/>
                  </a:rPr>
                  <a:t>Switch vendors without major code rewrites, sudden cost surges, performance regressions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TextBox 43"/>
              <p:cNvSpPr/>
              <p:nvPr/>
            </p:nvSpPr>
            <p:spPr>
              <a:xfrm>
                <a:off x="8386560" y="3590640"/>
                <a:ext cx="2144880" cy="860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Bef>
                    <a:spcPts val="300"/>
                  </a:spcBef>
                  <a:tabLst>
                    <a:tab pos="0" algn="l"/>
                  </a:tabLst>
                </a:pPr>
                <a:r>
                  <a:rPr lang="en-US" sz="1200" b="1" u="none" strike="noStrike">
                    <a:solidFill>
                      <a:srgbClr val="595959"/>
                    </a:solidFill>
                    <a:effectLst/>
                    <a:uFillTx/>
                    <a:latin typeface="Montserrat"/>
                  </a:rPr>
                  <a:t>Flexibility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spcBef>
                    <a:spcPts val="300"/>
                  </a:spcBef>
                  <a:tabLst>
                    <a:tab pos="0" algn="l"/>
                  </a:tabLst>
                </a:pPr>
                <a:r>
                  <a:rPr lang="en-US" sz="1200" b="0" u="none" strike="noStrike">
                    <a:solidFill>
                      <a:srgbClr val="595959"/>
                    </a:solidFill>
                    <a:effectLst/>
                    <a:uFillTx/>
                    <a:latin typeface="Montserrat"/>
                  </a:rPr>
                  <a:t>Select the most cost-effective, fast, or accurate model for each task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TextBox 44"/>
              <p:cNvSpPr/>
              <p:nvPr/>
            </p:nvSpPr>
            <p:spPr>
              <a:xfrm>
                <a:off x="8386560" y="5511960"/>
                <a:ext cx="2144880" cy="860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Bef>
                    <a:spcPts val="300"/>
                  </a:spcBef>
                  <a:tabLst>
                    <a:tab pos="0" algn="l"/>
                  </a:tabLst>
                </a:pPr>
                <a:r>
                  <a:rPr lang="en-US" sz="1200" b="1" u="none" strike="noStrike">
                    <a:solidFill>
                      <a:srgbClr val="595959"/>
                    </a:solidFill>
                    <a:effectLst/>
                    <a:uFillTx/>
                    <a:latin typeface="Montserrat"/>
                  </a:rPr>
                  <a:t>Resilience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spcBef>
                    <a:spcPts val="300"/>
                  </a:spcBef>
                  <a:tabLst>
                    <a:tab pos="0" algn="l"/>
                  </a:tabLst>
                </a:pPr>
                <a:r>
                  <a:rPr lang="en-US" sz="1200" b="0" u="none" strike="noStrike">
                    <a:solidFill>
                      <a:srgbClr val="595959"/>
                    </a:solidFill>
                    <a:effectLst/>
                    <a:uFillTx/>
                    <a:latin typeface="Montserrat"/>
                  </a:rPr>
                  <a:t>System is less vulnerable to outages, behavior changes, performance degradation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" name="Freeform: Shape 56"/>
            <p:cNvSpPr/>
            <p:nvPr/>
          </p:nvSpPr>
          <p:spPr>
            <a:xfrm>
              <a:off x="10839240" y="1895040"/>
              <a:ext cx="290160" cy="251280"/>
            </a:xfrm>
            <a:custGeom>
              <a:avLst/>
              <a:gdLst>
                <a:gd name="textAreaLeft" fmla="*/ 0 w 290160"/>
                <a:gd name="textAreaRight" fmla="*/ 290520 w 290160"/>
                <a:gd name="textAreaTop" fmla="*/ 0 h 251280"/>
                <a:gd name="textAreaBottom" fmla="*/ 251640 h 251280"/>
                <a:gd name="GluePoint1X" fmla="*/ 350564 w 1401862"/>
                <a:gd name="GluePoint1Y" fmla="*/ 1214056 h 1214055"/>
                <a:gd name="GluePoint2X" fmla="*/ 0 w 1401862"/>
                <a:gd name="GluePoint2Y" fmla="*/ 607094 h 1214055"/>
                <a:gd name="GluePoint3X" fmla="*/ 350564 w 1401862"/>
                <a:gd name="GluePoint3Y" fmla="*/ 0 h 1214055"/>
                <a:gd name="GluePoint4X" fmla="*/ 1051430 w 1401862"/>
                <a:gd name="GluePoint4Y" fmla="*/ 0 h 1214055"/>
                <a:gd name="GluePoint5X" fmla="*/ 1401863 w 1401862"/>
                <a:gd name="GluePoint5Y" fmla="*/ 607094 h 1214055"/>
                <a:gd name="GluePoint6X" fmla="*/ 1051430 w 1401862"/>
                <a:gd name="GluePoint6Y" fmla="*/ 1214056 h 1214055"/>
                <a:gd name="GluePoint7X" fmla="*/ 350564 w 1401862"/>
                <a:gd name="GluePoint7Y" fmla="*/ 1214056 h 12140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401862" h="1214055">
                  <a:moveTo>
                    <a:pt x="350564" y="1214056"/>
                  </a:moveTo>
                  <a:lnTo>
                    <a:pt x="0" y="607094"/>
                  </a:lnTo>
                  <a:lnTo>
                    <a:pt x="350564" y="0"/>
                  </a:lnTo>
                  <a:lnTo>
                    <a:pt x="1051430" y="0"/>
                  </a:lnTo>
                  <a:lnTo>
                    <a:pt x="1401863" y="607094"/>
                  </a:lnTo>
                  <a:lnTo>
                    <a:pt x="1051430" y="1214056"/>
                  </a:lnTo>
                  <a:lnTo>
                    <a:pt x="350564" y="1214056"/>
                  </a:lnTo>
                  <a:close/>
                </a:path>
              </a:pathLst>
            </a:custGeom>
            <a:solidFill>
              <a:srgbClr val="6495ED"/>
            </a:solidFill>
            <a:ln w="1309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9" name="Freeform: Shape 57"/>
            <p:cNvSpPr/>
            <p:nvPr/>
          </p:nvSpPr>
          <p:spPr>
            <a:xfrm>
              <a:off x="10803960" y="3852720"/>
              <a:ext cx="290160" cy="251280"/>
            </a:xfrm>
            <a:custGeom>
              <a:avLst/>
              <a:gdLst>
                <a:gd name="textAreaLeft" fmla="*/ 0 w 290160"/>
                <a:gd name="textAreaRight" fmla="*/ 290520 w 290160"/>
                <a:gd name="textAreaTop" fmla="*/ 0 h 251280"/>
                <a:gd name="textAreaBottom" fmla="*/ 251640 h 251280"/>
                <a:gd name="GluePoint1X" fmla="*/ 350564 w 1401862"/>
                <a:gd name="GluePoint1Y" fmla="*/ 1214056 h 1214055"/>
                <a:gd name="GluePoint2X" fmla="*/ 0 w 1401862"/>
                <a:gd name="GluePoint2Y" fmla="*/ 607094 h 1214055"/>
                <a:gd name="GluePoint3X" fmla="*/ 350564 w 1401862"/>
                <a:gd name="GluePoint3Y" fmla="*/ 0 h 1214055"/>
                <a:gd name="GluePoint4X" fmla="*/ 1051430 w 1401862"/>
                <a:gd name="GluePoint4Y" fmla="*/ 0 h 1214055"/>
                <a:gd name="GluePoint5X" fmla="*/ 1401863 w 1401862"/>
                <a:gd name="GluePoint5Y" fmla="*/ 607094 h 1214055"/>
                <a:gd name="GluePoint6X" fmla="*/ 1051430 w 1401862"/>
                <a:gd name="GluePoint6Y" fmla="*/ 1214056 h 1214055"/>
                <a:gd name="GluePoint7X" fmla="*/ 350564 w 1401862"/>
                <a:gd name="GluePoint7Y" fmla="*/ 1214056 h 12140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401862" h="1214055">
                  <a:moveTo>
                    <a:pt x="350564" y="1214056"/>
                  </a:moveTo>
                  <a:lnTo>
                    <a:pt x="0" y="607094"/>
                  </a:lnTo>
                  <a:lnTo>
                    <a:pt x="350564" y="0"/>
                  </a:lnTo>
                  <a:lnTo>
                    <a:pt x="1051430" y="0"/>
                  </a:lnTo>
                  <a:lnTo>
                    <a:pt x="1401863" y="607094"/>
                  </a:lnTo>
                  <a:lnTo>
                    <a:pt x="1051430" y="1214056"/>
                  </a:lnTo>
                  <a:lnTo>
                    <a:pt x="350564" y="1214056"/>
                  </a:lnTo>
                  <a:close/>
                </a:path>
              </a:pathLst>
            </a:custGeom>
            <a:solidFill>
              <a:srgbClr val="1C99E0"/>
            </a:solidFill>
            <a:ln w="1309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0" name="Freeform: Shape 58"/>
            <p:cNvSpPr/>
            <p:nvPr/>
          </p:nvSpPr>
          <p:spPr>
            <a:xfrm>
              <a:off x="10745640" y="5681520"/>
              <a:ext cx="290160" cy="251280"/>
            </a:xfrm>
            <a:custGeom>
              <a:avLst/>
              <a:gdLst>
                <a:gd name="textAreaLeft" fmla="*/ 0 w 290160"/>
                <a:gd name="textAreaRight" fmla="*/ 290520 w 290160"/>
                <a:gd name="textAreaTop" fmla="*/ 0 h 251280"/>
                <a:gd name="textAreaBottom" fmla="*/ 251640 h 251280"/>
                <a:gd name="GluePoint1X" fmla="*/ 350564 w 1401862"/>
                <a:gd name="GluePoint1Y" fmla="*/ 1214056 h 1214055"/>
                <a:gd name="GluePoint2X" fmla="*/ 0 w 1401862"/>
                <a:gd name="GluePoint2Y" fmla="*/ 607094 h 1214055"/>
                <a:gd name="GluePoint3X" fmla="*/ 350564 w 1401862"/>
                <a:gd name="GluePoint3Y" fmla="*/ 0 h 1214055"/>
                <a:gd name="GluePoint4X" fmla="*/ 1051430 w 1401862"/>
                <a:gd name="GluePoint4Y" fmla="*/ 0 h 1214055"/>
                <a:gd name="GluePoint5X" fmla="*/ 1401863 w 1401862"/>
                <a:gd name="GluePoint5Y" fmla="*/ 607094 h 1214055"/>
                <a:gd name="GluePoint6X" fmla="*/ 1051430 w 1401862"/>
                <a:gd name="GluePoint6Y" fmla="*/ 1214056 h 1214055"/>
                <a:gd name="GluePoint7X" fmla="*/ 350564 w 1401862"/>
                <a:gd name="GluePoint7Y" fmla="*/ 1214056 h 12140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401862" h="1214055">
                  <a:moveTo>
                    <a:pt x="350564" y="1214056"/>
                  </a:moveTo>
                  <a:lnTo>
                    <a:pt x="0" y="607094"/>
                  </a:lnTo>
                  <a:lnTo>
                    <a:pt x="350564" y="0"/>
                  </a:lnTo>
                  <a:lnTo>
                    <a:pt x="1051430" y="0"/>
                  </a:lnTo>
                  <a:lnTo>
                    <a:pt x="1401863" y="607094"/>
                  </a:lnTo>
                  <a:lnTo>
                    <a:pt x="1051430" y="1214056"/>
                  </a:lnTo>
                  <a:lnTo>
                    <a:pt x="350564" y="1214056"/>
                  </a:lnTo>
                  <a:close/>
                </a:path>
              </a:pathLst>
            </a:custGeom>
            <a:solidFill>
              <a:schemeClr val="accent2"/>
            </a:solidFill>
            <a:ln w="1309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1" name="TextBox 1"/>
            <p:cNvSpPr/>
            <p:nvPr/>
          </p:nvSpPr>
          <p:spPr>
            <a:xfrm>
              <a:off x="6997680" y="3232440"/>
              <a:ext cx="3607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1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02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2" name="TextBox 2"/>
            <p:cNvSpPr/>
            <p:nvPr/>
          </p:nvSpPr>
          <p:spPr>
            <a:xfrm>
              <a:off x="4938840" y="3247560"/>
              <a:ext cx="3607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1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06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3" name="TextBox 3"/>
            <p:cNvSpPr/>
            <p:nvPr/>
          </p:nvSpPr>
          <p:spPr>
            <a:xfrm>
              <a:off x="6997680" y="4366080"/>
              <a:ext cx="3607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1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03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4" name="TextBox 4"/>
            <p:cNvSpPr/>
            <p:nvPr/>
          </p:nvSpPr>
          <p:spPr>
            <a:xfrm>
              <a:off x="5977800" y="4966200"/>
              <a:ext cx="3607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1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04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5" name="TextBox 5"/>
            <p:cNvSpPr/>
            <p:nvPr/>
          </p:nvSpPr>
          <p:spPr>
            <a:xfrm>
              <a:off x="4949280" y="4385520"/>
              <a:ext cx="3607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1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05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96" name="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>
              <a:off x="7250400" y="2567160"/>
              <a:ext cx="914400" cy="914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7" name="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>
              <a:off x="5712120" y="5319000"/>
              <a:ext cx="914400" cy="914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8" name="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>
              <a:off x="4116240" y="4457520"/>
              <a:ext cx="914400" cy="914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9" name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4114440" y="2634120"/>
              <a:ext cx="914400" cy="914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0" name=""/>
            <p:cNvPicPr/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/>
          </p:blipFill>
          <p:spPr>
            <a:xfrm>
              <a:off x="7260120" y="4438080"/>
              <a:ext cx="914400" cy="914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1" name=""/>
            <p:cNvPicPr/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/>
          </p:blipFill>
          <p:spPr>
            <a:xfrm>
              <a:off x="5698800" y="3515760"/>
              <a:ext cx="914400" cy="914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Custom 11">
      <a:dk1>
        <a:srgbClr val="000000"/>
      </a:dk1>
      <a:lt1>
        <a:srgbClr val="FFFFFF"/>
      </a:lt1>
      <a:dk2>
        <a:srgbClr val="44546A"/>
      </a:dk2>
      <a:lt2>
        <a:srgbClr val="EE6F10"/>
      </a:lt2>
      <a:accent1>
        <a:srgbClr val="01BBC2"/>
      </a:accent1>
      <a:accent2>
        <a:srgbClr val="A2CD37"/>
      </a:accent2>
      <a:accent3>
        <a:srgbClr val="00B0F0"/>
      </a:accent3>
      <a:accent4>
        <a:srgbClr val="FD6D67"/>
      </a:accent4>
      <a:accent5>
        <a:srgbClr val="EAA31B"/>
      </a:accent5>
      <a:accent6>
        <a:srgbClr val="934584"/>
      </a:accent6>
      <a:hlink>
        <a:srgbClr val="BF2424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LibreOffice/26.2.1.2$MacOSX_AARCH64 LibreOffice_project/8399f6259d8c87f40e7255cdb3c9b958f5e08948</Application>
  <AppVersion>15.0000</AppVersion>
  <Words>68</Words>
  <Paragraphs>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2023-09-28T07:10:26Z</dcterms:created>
  <dc:creator>Deckzi</dc:creator>
  <dc:description/>
  <dc:language>en-US</dc:language>
  <cp:lastModifiedBy/>
  <dcterms:modified xsi:type="dcterms:W3CDTF">2026-07-20T23:10:16Z</dcterms:modified>
  <cp:revision>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